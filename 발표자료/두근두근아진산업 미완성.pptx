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99" r:id="rId5"/>
    <p:sldId id="261" r:id="rId6"/>
    <p:sldId id="302" r:id="rId7"/>
    <p:sldId id="301" r:id="rId8"/>
    <p:sldId id="264" r:id="rId9"/>
    <p:sldId id="288" r:id="rId10"/>
    <p:sldId id="265" r:id="rId11"/>
    <p:sldId id="289" r:id="rId12"/>
    <p:sldId id="292" r:id="rId13"/>
    <p:sldId id="293" r:id="rId14"/>
    <p:sldId id="295" r:id="rId15"/>
    <p:sldId id="304" r:id="rId16"/>
    <p:sldId id="296" r:id="rId17"/>
  </p:sldIdLst>
  <p:sldSz cx="24384000" cy="13716000"/>
  <p:notesSz cx="6858000" cy="9144000"/>
  <p:embeddedFontLst>
    <p:embeddedFont>
      <p:font typeface="Pretendard" panose="020B0600000101010101" charset="-127"/>
      <p:regular r:id="rId19"/>
      <p:bold r:id="rId20"/>
    </p:embeddedFont>
    <p:embeddedFont>
      <p:font typeface="맑은 고딕" panose="020B0503020000020004" pitchFamily="50" charset="-127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38" autoAdjust="0"/>
    <p:restoredTop sz="94622" autoAdjust="0"/>
  </p:normalViewPr>
  <p:slideViewPr>
    <p:cSldViewPr>
      <p:cViewPr varScale="1">
        <p:scale>
          <a:sx n="28" d="100"/>
          <a:sy n="28" d="100"/>
        </p:scale>
        <p:origin x="820" y="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2C2C"/>
                </a:solidFill>
                <a:latin typeface="Arial"/>
              </a:defRPr>
            </a:pPr>
            <a:r>
              <a:rPr lang="ko-KR" altLang="en-US" sz="13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엔딩 분포 </a:t>
            </a:r>
            <a:r>
              <a:rPr lang="en-US" altLang="ko-KR" sz="13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(</a:t>
            </a:r>
            <a:r>
              <a:rPr lang="en-US" sz="13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n=1,000)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엔딩 분포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7C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7FC-4EA7-BFF6-1CB0BC1B3A6D}"/>
              </c:ext>
            </c:extLst>
          </c:dPt>
          <c:dPt>
            <c:idx val="1"/>
            <c:bubble3D val="0"/>
            <c:spPr>
              <a:solidFill>
                <a:srgbClr val="AEC6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7FC-4EA7-BFF6-1CB0BC1B3A6D}"/>
              </c:ext>
            </c:extLst>
          </c:dPt>
          <c:dPt>
            <c:idx val="2"/>
            <c:bubble3D val="0"/>
            <c:spPr>
              <a:solidFill>
                <a:srgbClr val="B5E0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7FC-4EA7-BFF6-1CB0BC1B3A6D}"/>
              </c:ext>
            </c:extLst>
          </c:dPt>
          <c:dPt>
            <c:idx val="3"/>
            <c:bubble3D val="0"/>
            <c:spPr>
              <a:solidFill>
                <a:srgbClr val="F9D2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7FC-4EA7-BFF6-1CB0BC1B3A6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100" b="0" i="0" u="none" strike="noStrike">
                        <a:solidFill>
                          <a:srgbClr val="2C2C2C"/>
                        </a:solidFill>
                        <a:latin typeface="Arial"/>
                      </a:defRPr>
                    </a:pPr>
                    <a:fld id="{E736F287-4A6C-4C32-80D2-7FE7A2CE83B3}" type="PERCENTAGE">
                      <a:rPr lang="en-US" altLang="ko-KR">
                        <a:latin typeface="Pretendard" panose="02000503000000020004" pitchFamily="50" charset="-127"/>
                      </a:rPr>
                      <a:pPr>
                        <a:defRPr sz="1100" b="0" i="0" u="none" strike="noStrike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7FC-4EA7-BFF6-1CB0BC1B3A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100" b="0" i="0" u="none" strike="noStrike">
                        <a:solidFill>
                          <a:srgbClr val="2C2C2C"/>
                        </a:solidFill>
                        <a:latin typeface="Arial"/>
                      </a:defRPr>
                    </a:pPr>
                    <a:fld id="{BE553F96-CEEA-49CF-9EA6-E8D794581724}" type="PERCENTAGE">
                      <a:rPr lang="en-US" altLang="ko-KR">
                        <a:latin typeface="Pretendard" panose="02000503000000020004" pitchFamily="50" charset="-127"/>
                      </a:rPr>
                      <a:pPr>
                        <a:defRPr sz="1100" b="0" i="0" u="none" strike="noStrike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7FC-4EA7-BFF6-1CB0BC1B3A6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100" b="0" i="0" u="none" strike="noStrike">
                        <a:solidFill>
                          <a:srgbClr val="2C2C2C"/>
                        </a:solidFill>
                        <a:latin typeface="Arial"/>
                      </a:defRPr>
                    </a:pPr>
                    <a:fld id="{3DAFAE6B-0EE0-46CD-8F50-6569D742FA30}" type="PERCENTAGE">
                      <a:rPr lang="en-US" altLang="ko-KR">
                        <a:latin typeface="Pretendard" panose="02000503000000020004" pitchFamily="50" charset="-127"/>
                      </a:rPr>
                      <a:pPr>
                        <a:defRPr sz="1100" b="0" i="0" u="none" strike="noStrike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77FC-4EA7-BFF6-1CB0BC1B3A6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 sz="1100" b="0" i="0" u="none" strike="noStrike">
                        <a:solidFill>
                          <a:srgbClr val="2C2C2C"/>
                        </a:solidFill>
                        <a:latin typeface="Arial"/>
                      </a:defRPr>
                    </a:pPr>
                    <a:fld id="{6ACE9C34-70B5-4C6E-A87F-6852A1AB8C10}" type="PERCENTAGE">
                      <a:rPr lang="en-US" altLang="ko-KR">
                        <a:latin typeface="Pretendard" panose="02000503000000020004" pitchFamily="50" charset="-127"/>
                      </a:rPr>
                      <a:pPr>
                        <a:defRPr sz="1100" b="0" i="0" u="none" strike="noStrike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77FC-4EA7-BFF6-1CB0BC1B3A6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해피 엔딩</c:v>
                </c:pt>
                <c:pt idx="1">
                  <c:v>호감도 미달</c:v>
                </c:pt>
                <c:pt idx="2">
                  <c:v>과로/퇴사</c:v>
                </c:pt>
                <c:pt idx="3">
                  <c:v>커리어우먼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479</c:v>
                </c:pt>
                <c:pt idx="1">
                  <c:v>263</c:v>
                </c:pt>
                <c:pt idx="2">
                  <c:v>231</c:v>
                </c:pt>
                <c:pt idx="3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FC-4EA7-BFF6-1CB0BC1B3A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2C2C"/>
                </a:solidFill>
                <a:latin typeface="Arial"/>
              </a:defRPr>
            </a:pPr>
            <a:r>
              <a:rPr lang="ko-KR" altLang="en-US" sz="13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엔딩 결과별 핵심 </a:t>
            </a:r>
            <a:r>
              <a:rPr lang="ko-KR" altLang="en-US" sz="1300" b="0" i="0" u="none" strike="noStrike" dirty="0" err="1">
                <a:solidFill>
                  <a:srgbClr val="2C2C2C"/>
                </a:solidFill>
                <a:latin typeface="Pretendard" panose="02000503000000020004" pitchFamily="50" charset="-127"/>
              </a:rPr>
              <a:t>스탯</a:t>
            </a:r>
            <a:r>
              <a:rPr lang="ko-KR" altLang="en-US" sz="13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 비교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업무 능력</c:v>
                </c:pt>
              </c:strCache>
            </c:strRef>
          </c:tx>
          <c:spPr>
            <a:solidFill>
              <a:srgbClr val="F2A7C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배드(과로)</c:v>
                </c:pt>
                <c:pt idx="1">
                  <c:v>배드(미달)</c:v>
                </c:pt>
                <c:pt idx="2">
                  <c:v>커리어우먼</c:v>
                </c:pt>
                <c:pt idx="3">
                  <c:v>해피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48</c:v>
                </c:pt>
                <c:pt idx="2">
                  <c:v>93</c:v>
                </c:pt>
                <c:pt idx="3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F-4C95-99FF-EBB930271D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스트레스</c:v>
                </c:pt>
              </c:strCache>
            </c:strRef>
          </c:tx>
          <c:spPr>
            <a:solidFill>
              <a:srgbClr val="AEC6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배드(과로)</c:v>
                </c:pt>
                <c:pt idx="1">
                  <c:v>배드(미달)</c:v>
                </c:pt>
                <c:pt idx="2">
                  <c:v>커리어우먼</c:v>
                </c:pt>
                <c:pt idx="3">
                  <c:v>해피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</c:v>
                </c:pt>
                <c:pt idx="1">
                  <c:v>45</c:v>
                </c:pt>
                <c:pt idx="2">
                  <c:v>49</c:v>
                </c:pt>
                <c:pt idx="3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CF-4C95-99FF-EBB930271D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최대 호감도</c:v>
                </c:pt>
              </c:strCache>
            </c:strRef>
          </c:tx>
          <c:spPr>
            <a:solidFill>
              <a:srgbClr val="C8E6C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배드(과로)</c:v>
                </c:pt>
                <c:pt idx="1">
                  <c:v>배드(미달)</c:v>
                </c:pt>
                <c:pt idx="2">
                  <c:v>커리어우먼</c:v>
                </c:pt>
                <c:pt idx="3">
                  <c:v>해피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80</c:v>
                </c:pt>
                <c:pt idx="1">
                  <c:v>66</c:v>
                </c:pt>
                <c:pt idx="2">
                  <c:v>51</c:v>
                </c:pt>
                <c:pt idx="3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CF-4C95-99FF-EBB930271D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r>
              <a:rPr lang="ko-KR" altLang="en-US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캐릭터별 공략 </a:t>
            </a:r>
            <a:r>
              <a:rPr lang="ko-KR" altLang="en-US" sz="1200" b="0" i="0" u="none" strike="noStrike" dirty="0" err="1">
                <a:solidFill>
                  <a:srgbClr val="2C2C2C"/>
                </a:solidFill>
                <a:latin typeface="Pretendard" panose="02000503000000020004" pitchFamily="50" charset="-127"/>
              </a:rPr>
              <a:t>선택률</a:t>
            </a:r>
            <a:r>
              <a:rPr lang="ko-KR" altLang="en-US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 </a:t>
            </a:r>
            <a:r>
              <a:rPr lang="en-US" altLang="ko-KR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(</a:t>
            </a:r>
            <a:r>
              <a:rPr lang="ko-KR" altLang="en-US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가장 높은 호감도 기준</a:t>
            </a:r>
            <a:r>
              <a:rPr lang="en-US" altLang="ko-KR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공략 선택 수 (명)</c:v>
                </c:pt>
              </c:strCache>
            </c:strRef>
          </c:tx>
          <c:spPr>
            <a:solidFill>
              <a:srgbClr val="F2A7C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EA9-42A3-AAB2-DDED279FA0BE}"/>
              </c:ext>
            </c:extLst>
          </c:dPt>
          <c:dPt>
            <c:idx val="1"/>
            <c:invertIfNegative val="0"/>
            <c:bubble3D val="0"/>
            <c:spPr>
              <a:solidFill>
                <a:srgbClr val="AEC6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EA9-42A3-AAB2-DDED279FA0BE}"/>
              </c:ext>
            </c:extLst>
          </c:dPt>
          <c:dPt>
            <c:idx val="2"/>
            <c:invertIfNegative val="0"/>
            <c:bubble3D val="0"/>
            <c:spPr>
              <a:solidFill>
                <a:srgbClr val="B5E0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AEA9-42A3-AAB2-DDED279FA0BE}"/>
              </c:ext>
            </c:extLst>
          </c:dPt>
          <c:dPt>
            <c:idx val="3"/>
            <c:invertIfNegative val="0"/>
            <c:bubble3D val="0"/>
            <c:spPr>
              <a:solidFill>
                <a:srgbClr val="F9D2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AEA9-42A3-AAB2-DDED279FA0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캐릭터 A
(하원준)</c:v>
                </c:pt>
                <c:pt idx="1">
                  <c:v>캐릭터 B
(류인환)</c:v>
                </c:pt>
                <c:pt idx="2">
                  <c:v>캐릭터 C
(김용주)</c:v>
                </c:pt>
                <c:pt idx="3">
                  <c:v>캐릭터 D
(김도경)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267</c:v>
                </c:pt>
                <c:pt idx="1">
                  <c:v>249</c:v>
                </c:pt>
                <c:pt idx="2">
                  <c:v>231</c:v>
                </c:pt>
                <c:pt idx="3">
                  <c:v>253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EA9-42A3-AAB2-DDED279FA0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r>
              <a:rPr lang="ko-KR" altLang="en-US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캐릭터별 </a:t>
            </a:r>
            <a:r>
              <a:rPr lang="ko-KR" altLang="en-US" sz="1200" b="0" i="0" u="none" strike="noStrike" dirty="0" err="1">
                <a:solidFill>
                  <a:srgbClr val="2C2C2C"/>
                </a:solidFill>
                <a:latin typeface="Pretendard" panose="02000503000000020004" pitchFamily="50" charset="-127"/>
              </a:rPr>
              <a:t>해피엔딩</a:t>
            </a:r>
            <a:r>
              <a:rPr lang="ko-KR" altLang="en-US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 </a:t>
            </a:r>
            <a:r>
              <a:rPr lang="ko-KR" altLang="en-US" sz="1200" b="0" i="0" u="none" strike="noStrike" dirty="0" err="1">
                <a:solidFill>
                  <a:srgbClr val="2C2C2C"/>
                </a:solidFill>
                <a:latin typeface="Pretendard" panose="02000503000000020004" pitchFamily="50" charset="-127"/>
              </a:rPr>
              <a:t>달성률</a:t>
            </a:r>
            <a:r>
              <a:rPr lang="ko-KR" altLang="en-US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 </a:t>
            </a:r>
            <a:r>
              <a:rPr lang="en-US" altLang="ko-KR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(</a:t>
            </a:r>
            <a:r>
              <a:rPr lang="ko-KR" altLang="en-US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루트 난이도 분석</a:t>
            </a:r>
            <a:r>
              <a:rPr lang="en-US" altLang="ko-KR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해피엔딩 달성률 (%)</c:v>
                </c:pt>
              </c:strCache>
            </c:strRef>
          </c:tx>
          <c:spPr>
            <a:solidFill>
              <a:srgbClr val="C8E6C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56F-4B82-80FE-883A65888BC1}"/>
              </c:ext>
            </c:extLst>
          </c:dPt>
          <c:dPt>
            <c:idx val="1"/>
            <c:invertIfNegative val="0"/>
            <c:bubble3D val="0"/>
            <c:spPr>
              <a:solidFill>
                <a:srgbClr val="AEC6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856F-4B82-80FE-883A65888BC1}"/>
              </c:ext>
            </c:extLst>
          </c:dPt>
          <c:dPt>
            <c:idx val="2"/>
            <c:invertIfNegative val="0"/>
            <c:bubble3D val="0"/>
            <c:spPr>
              <a:solidFill>
                <a:srgbClr val="F9D2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856F-4B82-80FE-883A65888BC1}"/>
              </c:ext>
            </c:extLst>
          </c:dPt>
          <c:dPt>
            <c:idx val="3"/>
            <c:invertIfNegative val="0"/>
            <c:bubble3D val="0"/>
            <c:spPr>
              <a:solidFill>
                <a:srgbClr val="F2A7C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856F-4B82-80FE-883A65888BC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D4679A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캐릭터 A
(하원준)</c:v>
                </c:pt>
                <c:pt idx="1">
                  <c:v>캐릭터 B
(류인환)</c:v>
                </c:pt>
                <c:pt idx="2">
                  <c:v>캐릭터 C
(김용주)</c:v>
                </c:pt>
                <c:pt idx="3">
                  <c:v>캐릭터 D
(김도경)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47.2</c:v>
                </c:pt>
                <c:pt idx="1">
                  <c:v>49.8</c:v>
                </c:pt>
                <c:pt idx="2">
                  <c:v>48.9</c:v>
                </c:pt>
                <c:pt idx="3">
                  <c:v>45.8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56F-4B82-80FE-883A65888B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4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AA059-9A89-46AB-913C-981C03F3C690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FA41B-5E05-46DA-BEEA-3C9C35124A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90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4200" y="13030200"/>
            <a:ext cx="25565100" cy="25400"/>
          </a:xfrm>
          <a:prstGeom prst="rect">
            <a:avLst/>
          </a:prstGeom>
        </p:spPr>
      </p:pic>
      <p:sp>
        <p:nvSpPr>
          <p:cNvPr id="23" name="Text 1">
            <a:extLst>
              <a:ext uri="{FF2B5EF4-FFF2-40B4-BE49-F238E27FC236}">
                <a16:creationId xmlns:a16="http://schemas.microsoft.com/office/drawing/2014/main" id="{D844D9DE-6838-DC5B-4271-7FB0978501A9}"/>
              </a:ext>
            </a:extLst>
          </p:cNvPr>
          <p:cNvSpPr/>
          <p:nvPr/>
        </p:nvSpPr>
        <p:spPr>
          <a:xfrm>
            <a:off x="914400" y="3441192"/>
            <a:ext cx="2249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 아진산업</a:t>
            </a:r>
            <a:endParaRPr lang="en-US" sz="11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A22230CA-13BB-B936-4EA1-9573B0B84D87}"/>
              </a:ext>
            </a:extLst>
          </p:cNvPr>
          <p:cNvSpPr/>
          <p:nvPr/>
        </p:nvSpPr>
        <p:spPr>
          <a:xfrm>
            <a:off x="914400" y="6001512"/>
            <a:ext cx="22494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Ren'Py 기반 미소녀 연애 시뮬레이션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C9C7902D-2541-4052-EAC1-0D47317D7C69}"/>
              </a:ext>
            </a:extLst>
          </p:cNvPr>
          <p:cNvSpPr/>
          <p:nvPr/>
        </p:nvSpPr>
        <p:spPr>
          <a:xfrm>
            <a:off x="9052560" y="7135368"/>
            <a:ext cx="6217920" cy="950976"/>
          </a:xfrm>
          <a:prstGeom prst="roundRect">
            <a:avLst>
              <a:gd name="adj" fmla="val 50000"/>
            </a:avLst>
          </a:prstGeom>
          <a:solidFill>
            <a:srgbClr val="F7C4D8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F1679851-4998-0F1D-4BCB-B47BC289D712}"/>
              </a:ext>
            </a:extLst>
          </p:cNvPr>
          <p:cNvSpPr/>
          <p:nvPr/>
        </p:nvSpPr>
        <p:spPr>
          <a:xfrm>
            <a:off x="9052560" y="7135368"/>
            <a:ext cx="6217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8조 : 김도경, 김병욱, 이한이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A9FB0C8E-24F1-1D5F-896A-091F57251E37}"/>
              </a:ext>
            </a:extLst>
          </p:cNvPr>
          <p:cNvSpPr/>
          <p:nvPr/>
        </p:nvSpPr>
        <p:spPr>
          <a:xfrm>
            <a:off x="3730752" y="8525256"/>
            <a:ext cx="3108960" cy="6949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3030E29C-DED1-A12B-42E0-9BDBA5CF28F4}"/>
              </a:ext>
            </a:extLst>
          </p:cNvPr>
          <p:cNvSpPr/>
          <p:nvPr/>
        </p:nvSpPr>
        <p:spPr>
          <a:xfrm>
            <a:off x="3730752" y="8525256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연애 시뮬레이션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FD1CD6EB-FA0E-8237-9EFC-799688E83CCE}"/>
              </a:ext>
            </a:extLst>
          </p:cNvPr>
          <p:cNvSpPr/>
          <p:nvPr/>
        </p:nvSpPr>
        <p:spPr>
          <a:xfrm>
            <a:off x="7168896" y="8525256"/>
            <a:ext cx="3108960" cy="6949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EEA1E0E2-E3D8-958C-67A5-1071068C5DDD}"/>
              </a:ext>
            </a:extLst>
          </p:cNvPr>
          <p:cNvSpPr/>
          <p:nvPr/>
        </p:nvSpPr>
        <p:spPr>
          <a:xfrm>
            <a:off x="7168896" y="8525256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사내 로맨스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2CEF501D-87CE-95C4-733E-585B6478EE0D}"/>
              </a:ext>
            </a:extLst>
          </p:cNvPr>
          <p:cNvSpPr/>
          <p:nvPr/>
        </p:nvSpPr>
        <p:spPr>
          <a:xfrm>
            <a:off x="10607040" y="8525256"/>
            <a:ext cx="3108960" cy="6949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04758E08-3F26-7963-ECE9-114C8F01AF49}"/>
              </a:ext>
            </a:extLst>
          </p:cNvPr>
          <p:cNvSpPr/>
          <p:nvPr/>
        </p:nvSpPr>
        <p:spPr>
          <a:xfrm>
            <a:off x="10607040" y="8525256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Ren'Py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2B5E5428-D4F8-06C7-5EFA-9AFADD37B2E2}"/>
              </a:ext>
            </a:extLst>
          </p:cNvPr>
          <p:cNvSpPr/>
          <p:nvPr/>
        </p:nvSpPr>
        <p:spPr>
          <a:xfrm>
            <a:off x="14045184" y="8525256"/>
            <a:ext cx="3108960" cy="6949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34DF3C5B-ACAC-2A87-90F8-818CC8071EEE}"/>
              </a:ext>
            </a:extLst>
          </p:cNvPr>
          <p:cNvSpPr/>
          <p:nvPr/>
        </p:nvSpPr>
        <p:spPr>
          <a:xfrm>
            <a:off x="14045184" y="8525256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MariaDB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D51EF84B-1696-8F9C-B24C-C6ADE46D17A6}"/>
              </a:ext>
            </a:extLst>
          </p:cNvPr>
          <p:cNvSpPr/>
          <p:nvPr/>
        </p:nvSpPr>
        <p:spPr>
          <a:xfrm>
            <a:off x="17483328" y="8525256"/>
            <a:ext cx="3108960" cy="6949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CB38DF42-3369-A607-340D-1AFA1A039926}"/>
              </a:ext>
            </a:extLst>
          </p:cNvPr>
          <p:cNvSpPr/>
          <p:nvPr/>
        </p:nvSpPr>
        <p:spPr>
          <a:xfrm>
            <a:off x="17483328" y="8525256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Flask API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600" y="3937000"/>
            <a:ext cx="13296900" cy="254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0883900" y="2108200"/>
            <a:ext cx="3009900" cy="185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0409" b="1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목차</a:t>
            </a:r>
            <a:r>
              <a:rPr lang="en-US" sz="10409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78401462-BB26-9605-0EA0-F415FB1EDE08}"/>
              </a:ext>
            </a:extLst>
          </p:cNvPr>
          <p:cNvSpPr/>
          <p:nvPr/>
        </p:nvSpPr>
        <p:spPr>
          <a:xfrm>
            <a:off x="1527048" y="17647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2" name="Shape 4">
            <a:extLst>
              <a:ext uri="{FF2B5EF4-FFF2-40B4-BE49-F238E27FC236}">
                <a16:creationId xmlns:a16="http://schemas.microsoft.com/office/drawing/2014/main" id="{B4759D30-1CFE-1FC0-8AF1-E771BDC8F274}"/>
              </a:ext>
            </a:extLst>
          </p:cNvPr>
          <p:cNvSpPr/>
          <p:nvPr/>
        </p:nvSpPr>
        <p:spPr>
          <a:xfrm>
            <a:off x="990600" y="4180439"/>
            <a:ext cx="10972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3" name="Shape 5">
            <a:extLst>
              <a:ext uri="{FF2B5EF4-FFF2-40B4-BE49-F238E27FC236}">
                <a16:creationId xmlns:a16="http://schemas.microsoft.com/office/drawing/2014/main" id="{7C73417E-FF22-7B8C-407D-4CAFDA98DEF4}"/>
              </a:ext>
            </a:extLst>
          </p:cNvPr>
          <p:cNvSpPr/>
          <p:nvPr/>
        </p:nvSpPr>
        <p:spPr>
          <a:xfrm>
            <a:off x="1392936" y="4875383"/>
            <a:ext cx="1316736" cy="1316736"/>
          </a:xfrm>
          <a:prstGeom prst="ellipse">
            <a:avLst/>
          </a:prstGeom>
          <a:solidFill>
            <a:srgbClr val="F7C4D8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4" name="Text 6">
            <a:extLst>
              <a:ext uri="{FF2B5EF4-FFF2-40B4-BE49-F238E27FC236}">
                <a16:creationId xmlns:a16="http://schemas.microsoft.com/office/drawing/2014/main" id="{BCEC371A-2272-9406-D5FC-EE80974BCDFE}"/>
              </a:ext>
            </a:extLst>
          </p:cNvPr>
          <p:cNvSpPr/>
          <p:nvPr/>
        </p:nvSpPr>
        <p:spPr>
          <a:xfrm>
            <a:off x="1392936" y="4875383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5" name="Text 7">
            <a:extLst>
              <a:ext uri="{FF2B5EF4-FFF2-40B4-BE49-F238E27FC236}">
                <a16:creationId xmlns:a16="http://schemas.microsoft.com/office/drawing/2014/main" id="{52B538D1-89FD-4BCF-ADB4-DB8A8B970AE1}"/>
              </a:ext>
            </a:extLst>
          </p:cNvPr>
          <p:cNvSpPr/>
          <p:nvPr/>
        </p:nvSpPr>
        <p:spPr>
          <a:xfrm>
            <a:off x="3038856" y="4875383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개요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6" name="Text 8">
            <a:extLst>
              <a:ext uri="{FF2B5EF4-FFF2-40B4-BE49-F238E27FC236}">
                <a16:creationId xmlns:a16="http://schemas.microsoft.com/office/drawing/2014/main" id="{5C89B22B-BFDD-2A28-5AB0-E64FAFF61262}"/>
              </a:ext>
            </a:extLst>
          </p:cNvPr>
          <p:cNvSpPr/>
          <p:nvPr/>
        </p:nvSpPr>
        <p:spPr>
          <a:xfrm>
            <a:off x="3038856" y="5753207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 장르 및 기획 의도 안내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7" name="Shape 9">
            <a:extLst>
              <a:ext uri="{FF2B5EF4-FFF2-40B4-BE49-F238E27FC236}">
                <a16:creationId xmlns:a16="http://schemas.microsoft.com/office/drawing/2014/main" id="{59B85F34-D07A-FD39-F4B3-140D4FA240E3}"/>
              </a:ext>
            </a:extLst>
          </p:cNvPr>
          <p:cNvSpPr/>
          <p:nvPr/>
        </p:nvSpPr>
        <p:spPr>
          <a:xfrm>
            <a:off x="12420600" y="4180439"/>
            <a:ext cx="10972800" cy="4114800"/>
          </a:xfrm>
          <a:prstGeom prst="rect">
            <a:avLst/>
          </a:prstGeom>
          <a:solidFill>
            <a:srgbClr val="FDE8F1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8" name="Shape 10">
            <a:extLst>
              <a:ext uri="{FF2B5EF4-FFF2-40B4-BE49-F238E27FC236}">
                <a16:creationId xmlns:a16="http://schemas.microsoft.com/office/drawing/2014/main" id="{78328E5A-68DC-D6E5-D05C-7E098BDA3884}"/>
              </a:ext>
            </a:extLst>
          </p:cNvPr>
          <p:cNvSpPr/>
          <p:nvPr/>
        </p:nvSpPr>
        <p:spPr>
          <a:xfrm>
            <a:off x="12822936" y="4875383"/>
            <a:ext cx="1316736" cy="1316736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9" name="Text 11">
            <a:extLst>
              <a:ext uri="{FF2B5EF4-FFF2-40B4-BE49-F238E27FC236}">
                <a16:creationId xmlns:a16="http://schemas.microsoft.com/office/drawing/2014/main" id="{FAAFB75F-58E4-99FB-6BE0-A0D46D2EA3BF}"/>
              </a:ext>
            </a:extLst>
          </p:cNvPr>
          <p:cNvSpPr/>
          <p:nvPr/>
        </p:nvSpPr>
        <p:spPr>
          <a:xfrm>
            <a:off x="12822936" y="4875383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0" name="Text 12">
            <a:extLst>
              <a:ext uri="{FF2B5EF4-FFF2-40B4-BE49-F238E27FC236}">
                <a16:creationId xmlns:a16="http://schemas.microsoft.com/office/drawing/2014/main" id="{95AB0EF5-3020-131C-BF6C-57A3338F2CE4}"/>
              </a:ext>
            </a:extLst>
          </p:cNvPr>
          <p:cNvSpPr/>
          <p:nvPr/>
        </p:nvSpPr>
        <p:spPr>
          <a:xfrm>
            <a:off x="14468856" y="4875383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 핵심 시스템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1" name="Text 13">
            <a:extLst>
              <a:ext uri="{FF2B5EF4-FFF2-40B4-BE49-F238E27FC236}">
                <a16:creationId xmlns:a16="http://schemas.microsoft.com/office/drawing/2014/main" id="{B74CA0DB-39E3-4C55-6D0C-C760702DB622}"/>
              </a:ext>
            </a:extLst>
          </p:cNvPr>
          <p:cNvSpPr/>
          <p:nvPr/>
        </p:nvSpPr>
        <p:spPr>
          <a:xfrm>
            <a:off x="14468856" y="5753207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공략 캐릭터, 일정 관리 및 행동력(AP), 일일 주요 활동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2" name="Shape 14">
            <a:extLst>
              <a:ext uri="{FF2B5EF4-FFF2-40B4-BE49-F238E27FC236}">
                <a16:creationId xmlns:a16="http://schemas.microsoft.com/office/drawing/2014/main" id="{01EE145C-3B8C-CDDF-F2CA-90609598D118}"/>
              </a:ext>
            </a:extLst>
          </p:cNvPr>
          <p:cNvSpPr/>
          <p:nvPr/>
        </p:nvSpPr>
        <p:spPr>
          <a:xfrm>
            <a:off x="990600" y="8843879"/>
            <a:ext cx="10972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3" name="Shape 15">
            <a:extLst>
              <a:ext uri="{FF2B5EF4-FFF2-40B4-BE49-F238E27FC236}">
                <a16:creationId xmlns:a16="http://schemas.microsoft.com/office/drawing/2014/main" id="{B8925FE6-489E-71FB-FBE5-9226F9F04A16}"/>
              </a:ext>
            </a:extLst>
          </p:cNvPr>
          <p:cNvSpPr/>
          <p:nvPr/>
        </p:nvSpPr>
        <p:spPr>
          <a:xfrm>
            <a:off x="1392936" y="9538823"/>
            <a:ext cx="1316736" cy="1316736"/>
          </a:xfrm>
          <a:prstGeom prst="ellipse">
            <a:avLst/>
          </a:prstGeom>
          <a:solidFill>
            <a:srgbClr val="F7C4D8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4" name="Text 16">
            <a:extLst>
              <a:ext uri="{FF2B5EF4-FFF2-40B4-BE49-F238E27FC236}">
                <a16:creationId xmlns:a16="http://schemas.microsoft.com/office/drawing/2014/main" id="{FCCCA01C-CEC9-D699-B11E-C2EA71A3FBCA}"/>
              </a:ext>
            </a:extLst>
          </p:cNvPr>
          <p:cNvSpPr/>
          <p:nvPr/>
        </p:nvSpPr>
        <p:spPr>
          <a:xfrm>
            <a:off x="1392936" y="9538823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5" name="Text 17">
            <a:extLst>
              <a:ext uri="{FF2B5EF4-FFF2-40B4-BE49-F238E27FC236}">
                <a16:creationId xmlns:a16="http://schemas.microsoft.com/office/drawing/2014/main" id="{C268126B-4C06-BA45-8E37-E810D4AAD62D}"/>
              </a:ext>
            </a:extLst>
          </p:cNvPr>
          <p:cNvSpPr/>
          <p:nvPr/>
        </p:nvSpPr>
        <p:spPr>
          <a:xfrm>
            <a:off x="3038856" y="9538823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기술적 차별성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6" name="Text 18">
            <a:extLst>
              <a:ext uri="{FF2B5EF4-FFF2-40B4-BE49-F238E27FC236}">
                <a16:creationId xmlns:a16="http://schemas.microsoft.com/office/drawing/2014/main" id="{651F9ED9-046E-609E-29CA-2F545B933A65}"/>
              </a:ext>
            </a:extLst>
          </p:cNvPr>
          <p:cNvSpPr/>
          <p:nvPr/>
        </p:nvSpPr>
        <p:spPr>
          <a:xfrm>
            <a:off x="3038856" y="10416647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 연동 — 안정적인 데이터 영구 보존 및 설계 구조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7" name="Shape 19">
            <a:extLst>
              <a:ext uri="{FF2B5EF4-FFF2-40B4-BE49-F238E27FC236}">
                <a16:creationId xmlns:a16="http://schemas.microsoft.com/office/drawing/2014/main" id="{F4878833-9503-B99B-81CE-D01CD1A452E6}"/>
              </a:ext>
            </a:extLst>
          </p:cNvPr>
          <p:cNvSpPr/>
          <p:nvPr/>
        </p:nvSpPr>
        <p:spPr>
          <a:xfrm>
            <a:off x="12420600" y="8843879"/>
            <a:ext cx="10972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8" name="Shape 20">
            <a:extLst>
              <a:ext uri="{FF2B5EF4-FFF2-40B4-BE49-F238E27FC236}">
                <a16:creationId xmlns:a16="http://schemas.microsoft.com/office/drawing/2014/main" id="{DBE1DDBD-BD5D-150B-FF3C-BF2F7D7AF785}"/>
              </a:ext>
            </a:extLst>
          </p:cNvPr>
          <p:cNvSpPr/>
          <p:nvPr/>
        </p:nvSpPr>
        <p:spPr>
          <a:xfrm>
            <a:off x="12822936" y="9538823"/>
            <a:ext cx="1316736" cy="1316736"/>
          </a:xfrm>
          <a:prstGeom prst="ellipse">
            <a:avLst/>
          </a:prstGeom>
          <a:solidFill>
            <a:srgbClr val="F7C4D8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9" name="Text 21">
            <a:extLst>
              <a:ext uri="{FF2B5EF4-FFF2-40B4-BE49-F238E27FC236}">
                <a16:creationId xmlns:a16="http://schemas.microsoft.com/office/drawing/2014/main" id="{069C5521-95DC-E30F-B797-94E295321031}"/>
              </a:ext>
            </a:extLst>
          </p:cNvPr>
          <p:cNvSpPr/>
          <p:nvPr/>
        </p:nvSpPr>
        <p:spPr>
          <a:xfrm>
            <a:off x="12822936" y="9538823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0" name="Text 22">
            <a:extLst>
              <a:ext uri="{FF2B5EF4-FFF2-40B4-BE49-F238E27FC236}">
                <a16:creationId xmlns:a16="http://schemas.microsoft.com/office/drawing/2014/main" id="{7CA233D6-65EC-E66A-7026-D69428796460}"/>
              </a:ext>
            </a:extLst>
          </p:cNvPr>
          <p:cNvSpPr/>
          <p:nvPr/>
        </p:nvSpPr>
        <p:spPr>
          <a:xfrm>
            <a:off x="14468856" y="9538823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결과 및 비전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1" name="Text 23">
            <a:extLst>
              <a:ext uri="{FF2B5EF4-FFF2-40B4-BE49-F238E27FC236}">
                <a16:creationId xmlns:a16="http://schemas.microsoft.com/office/drawing/2014/main" id="{A4EA412A-7EF8-C603-253C-424499CEC265}"/>
              </a:ext>
            </a:extLst>
          </p:cNvPr>
          <p:cNvSpPr/>
          <p:nvPr/>
        </p:nvSpPr>
        <p:spPr>
          <a:xfrm>
            <a:off x="14468856" y="10416647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 엔딩 분기 및 최종 프로젝트 기대효과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5105400"/>
            <a:ext cx="5715000" cy="952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02200" y="6921500"/>
            <a:ext cx="14592300" cy="1422400"/>
          </a:xfrm>
          <a:prstGeom prst="rect">
            <a:avLst/>
          </a:prstGeom>
        </p:spPr>
        <p:txBody>
          <a:bodyPr lIns="0" tIns="86360" rIns="0" bIns="0" rtlCol="0" anchor="t"/>
          <a:lstStyle/>
          <a:p>
            <a:pPr algn="ctr"/>
            <a:r>
              <a:rPr lang="en-US" altLang="ko-KR" sz="80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</a:t>
            </a:r>
            <a:r>
              <a:rPr lang="en-US" altLang="ko-KR" sz="8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80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장르</a:t>
            </a:r>
            <a:r>
              <a:rPr lang="en-US" altLang="ko-KR" sz="8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 </a:t>
            </a:r>
            <a:r>
              <a:rPr lang="en-US" altLang="ko-KR" sz="80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기획</a:t>
            </a:r>
            <a:r>
              <a:rPr lang="en-US" altLang="ko-KR" sz="8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80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의도</a:t>
            </a:r>
            <a:r>
              <a:rPr lang="en-US" altLang="ko-KR" sz="8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8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소개</a:t>
            </a:r>
            <a:endParaRPr lang="en-US" altLang="ko-KR" sz="8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33400" y="571500"/>
            <a:ext cx="3225800" cy="4318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2400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Love_Ajin</a:t>
            </a:r>
            <a:endParaRPr lang="en-US" altLang="ko-KR" sz="2400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842500" y="5270500"/>
            <a:ext cx="4699000" cy="635000"/>
          </a:xfrm>
          <a:prstGeom prst="rect">
            <a:avLst/>
          </a:prstGeom>
        </p:spPr>
        <p:txBody>
          <a:bodyPr lIns="0" tIns="4572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600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01. </a:t>
            </a:r>
            <a:r>
              <a:rPr lang="en-US" sz="3600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</a:t>
            </a:r>
            <a:r>
              <a:rPr lang="en-US" sz="3600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3600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개요</a:t>
            </a:r>
            <a:endParaRPr lang="en-US" sz="3600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26D3-B3D7-57E6-B15A-1489809CD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BD41A0E4-F453-A939-4C01-9AA2406F50CA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4A3FEF2B-C7D0-6163-F3F0-F952A7A1E746}"/>
              </a:ext>
            </a:extLst>
          </p:cNvPr>
          <p:cNvSpPr/>
          <p:nvPr/>
        </p:nvSpPr>
        <p:spPr>
          <a:xfrm>
            <a:off x="1005840" y="1289304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기획 의도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DA879DC1-0BA2-2F3E-1BC2-0E8A66301807}"/>
              </a:ext>
            </a:extLst>
          </p:cNvPr>
          <p:cNvSpPr/>
          <p:nvPr/>
        </p:nvSpPr>
        <p:spPr>
          <a:xfrm>
            <a:off x="1005840" y="2514600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Ren'Py와 Python 기술을 활용한 실습형 연애 시뮬레이션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FC889D11-55F9-2EE4-1FE3-01F90136BF9A}"/>
              </a:ext>
            </a:extLst>
          </p:cNvPr>
          <p:cNvSpPr/>
          <p:nvPr/>
        </p:nvSpPr>
        <p:spPr>
          <a:xfrm>
            <a:off x="1005839" y="3429000"/>
            <a:ext cx="10805161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4030E7E-1E12-E8B4-474C-7719B25A5614}"/>
              </a:ext>
            </a:extLst>
          </p:cNvPr>
          <p:cNvSpPr/>
          <p:nvPr/>
        </p:nvSpPr>
        <p:spPr>
          <a:xfrm>
            <a:off x="1371600" y="3721608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🎮  왜 연애 시뮬레이션인가?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071C562-F82B-1763-77AE-232BD35AC709}"/>
              </a:ext>
            </a:extLst>
          </p:cNvPr>
          <p:cNvSpPr/>
          <p:nvPr/>
        </p:nvSpPr>
        <p:spPr>
          <a:xfrm>
            <a:off x="1371600" y="4453128"/>
            <a:ext cx="9966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연애 시뮬레이션은 선택지·스탯·엔딩 분기 등 게임 개발의 핵심 요소를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sz="25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 포함하여 학습 효율이 높은 장르입니다.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467DA4FA-4402-ED8E-12E8-84867E0740D2}"/>
              </a:ext>
            </a:extLst>
          </p:cNvPr>
          <p:cNvSpPr/>
          <p:nvPr/>
        </p:nvSpPr>
        <p:spPr>
          <a:xfrm>
            <a:off x="12573000" y="3429000"/>
            <a:ext cx="1096365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0AA824B1-AAB4-F62E-0ABC-76B8C129E257}"/>
              </a:ext>
            </a:extLst>
          </p:cNvPr>
          <p:cNvSpPr/>
          <p:nvPr/>
        </p:nvSpPr>
        <p:spPr>
          <a:xfrm>
            <a:off x="12901412" y="3721608"/>
            <a:ext cx="968426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📦  기술 스택 선정 이유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ED3995E5-EDB4-889A-DB1D-A35F8E65CF3D}"/>
              </a:ext>
            </a:extLst>
          </p:cNvPr>
          <p:cNvSpPr/>
          <p:nvPr/>
        </p:nvSpPr>
        <p:spPr>
          <a:xfrm>
            <a:off x="12901412" y="4453128"/>
            <a:ext cx="9684267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Ren'Py(게임 엔진) + Flask(REST API) + MariaDB(영구 저장) 조합으로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sz="25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프론트엔드-백엔드-DB 전 영역을 실습합니다.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38EA3454-9D9B-7FD4-D4FA-82717AB96638}"/>
              </a:ext>
            </a:extLst>
          </p:cNvPr>
          <p:cNvSpPr/>
          <p:nvPr/>
        </p:nvSpPr>
        <p:spPr>
          <a:xfrm>
            <a:off x="1005840" y="7543800"/>
            <a:ext cx="7071360" cy="41148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0443825D-14AB-C2CE-271A-18D352FD7D74}"/>
              </a:ext>
            </a:extLst>
          </p:cNvPr>
          <p:cNvSpPr/>
          <p:nvPr/>
        </p:nvSpPr>
        <p:spPr>
          <a:xfrm>
            <a:off x="1408176" y="7872984"/>
            <a:ext cx="987552" cy="987552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6FC8FA27-119B-94A6-85E3-00E25CFDC883}"/>
              </a:ext>
            </a:extLst>
          </p:cNvPr>
          <p:cNvSpPr/>
          <p:nvPr/>
        </p:nvSpPr>
        <p:spPr>
          <a:xfrm>
            <a:off x="1408176" y="7872984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980A2DD-95C1-0D57-D604-77767276CB38}"/>
              </a:ext>
            </a:extLst>
          </p:cNvPr>
          <p:cNvSpPr/>
          <p:nvPr/>
        </p:nvSpPr>
        <p:spPr>
          <a:xfrm>
            <a:off x="2651760" y="79095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스탯 관리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6C6014D2-48D2-1762-74BB-581343E82CDD}"/>
              </a:ext>
            </a:extLst>
          </p:cNvPr>
          <p:cNvSpPr/>
          <p:nvPr/>
        </p:nvSpPr>
        <p:spPr>
          <a:xfrm>
            <a:off x="1408176" y="900684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매력 / 지능 / 스트레스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sz="24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가지 수치 조합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669B0FA4-5163-C08F-3D62-288BAE195675}"/>
              </a:ext>
            </a:extLst>
          </p:cNvPr>
          <p:cNvSpPr/>
          <p:nvPr/>
        </p:nvSpPr>
        <p:spPr>
          <a:xfrm>
            <a:off x="8698992" y="7543800"/>
            <a:ext cx="7046976" cy="41148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48519800-63EB-E5CA-E410-0413A7E4BBAD}"/>
              </a:ext>
            </a:extLst>
          </p:cNvPr>
          <p:cNvSpPr/>
          <p:nvPr/>
        </p:nvSpPr>
        <p:spPr>
          <a:xfrm>
            <a:off x="9198864" y="7872984"/>
            <a:ext cx="987552" cy="987552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544A875B-3BB1-EBD9-5A5B-F1892E8C49ED}"/>
              </a:ext>
            </a:extLst>
          </p:cNvPr>
          <p:cNvSpPr/>
          <p:nvPr/>
        </p:nvSpPr>
        <p:spPr>
          <a:xfrm>
            <a:off x="9198864" y="7872984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D8EE0246-1BFE-44FD-DEEE-AEA281FB070D}"/>
              </a:ext>
            </a:extLst>
          </p:cNvPr>
          <p:cNvSpPr/>
          <p:nvPr/>
        </p:nvSpPr>
        <p:spPr>
          <a:xfrm>
            <a:off x="10442448" y="79095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호감도 시스템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C51AF9C9-2A98-76B7-AD21-05820CBA35A5}"/>
              </a:ext>
            </a:extLst>
          </p:cNvPr>
          <p:cNvSpPr/>
          <p:nvPr/>
        </p:nvSpPr>
        <p:spPr>
          <a:xfrm>
            <a:off x="9198864" y="900684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4명의 남주 각각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sz="24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독립적 호감도 추적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9C2F16A0-BDA5-505C-0A3F-3E11D2BFE159}"/>
              </a:ext>
            </a:extLst>
          </p:cNvPr>
          <p:cNvSpPr/>
          <p:nvPr/>
        </p:nvSpPr>
        <p:spPr>
          <a:xfrm>
            <a:off x="16312896" y="7543800"/>
            <a:ext cx="7223760" cy="41148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606A1ED0-56F2-639E-75E8-B00E011A94D3}"/>
              </a:ext>
            </a:extLst>
          </p:cNvPr>
          <p:cNvSpPr/>
          <p:nvPr/>
        </p:nvSpPr>
        <p:spPr>
          <a:xfrm>
            <a:off x="16989552" y="7872984"/>
            <a:ext cx="987552" cy="987552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40FBA770-518C-9DDF-A723-9FBD3B375524}"/>
              </a:ext>
            </a:extLst>
          </p:cNvPr>
          <p:cNvSpPr/>
          <p:nvPr/>
        </p:nvSpPr>
        <p:spPr>
          <a:xfrm>
            <a:off x="16989552" y="7872984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③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6CA928D4-056A-2B1B-19D1-F37CC945DB74}"/>
              </a:ext>
            </a:extLst>
          </p:cNvPr>
          <p:cNvSpPr/>
          <p:nvPr/>
        </p:nvSpPr>
        <p:spPr>
          <a:xfrm>
            <a:off x="18233136" y="79095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 엔딩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6BEE5757-1437-0175-8044-39C5BBAB36A4}"/>
              </a:ext>
            </a:extLst>
          </p:cNvPr>
          <p:cNvSpPr/>
          <p:nvPr/>
        </p:nvSpPr>
        <p:spPr>
          <a:xfrm>
            <a:off x="16989552" y="900684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해피·노멀·배드 포함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sz="24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11가지 결말 분기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6747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5105400"/>
            <a:ext cx="5702300" cy="952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02200" y="6921500"/>
            <a:ext cx="14592300" cy="1422400"/>
          </a:xfrm>
          <a:prstGeom prst="rect">
            <a:avLst/>
          </a:prstGeom>
        </p:spPr>
        <p:txBody>
          <a:bodyPr lIns="0" tIns="86360" rIns="0" bIns="0" rtlCol="0" anchor="t"/>
          <a:lstStyle/>
          <a:p>
            <a:pPr lvl="0" algn="ctr">
              <a:lnSpc>
                <a:spcPct val="102089"/>
              </a:lnSpc>
            </a:pPr>
            <a:r>
              <a:rPr lang="ko-KR" altLang="en-US" sz="8000" b="1" i="0" u="none" strike="noStrike" spc="-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 캐릭터 및 시스템 소개</a:t>
            </a:r>
            <a:endParaRPr lang="en-US" sz="8000" b="1" i="0" u="none" strike="noStrike" spc="-2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842500" y="5270500"/>
            <a:ext cx="4699000" cy="635000"/>
          </a:xfrm>
          <a:prstGeom prst="rect">
            <a:avLst/>
          </a:prstGeom>
        </p:spPr>
        <p:txBody>
          <a:bodyPr lIns="0" tIns="4572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600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02. </a:t>
            </a:r>
            <a:r>
              <a:rPr lang="ko-KR" altLang="en-US" sz="3600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 핵심 시스템</a:t>
            </a:r>
            <a:endParaRPr lang="en-US" sz="3600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0FC159DD-1AA6-66F1-06EF-982D4FC649A6}"/>
              </a:ext>
            </a:extLst>
          </p:cNvPr>
          <p:cNvSpPr txBox="1"/>
          <p:nvPr/>
        </p:nvSpPr>
        <p:spPr>
          <a:xfrm>
            <a:off x="533400" y="571500"/>
            <a:ext cx="3225800" cy="4318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2400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Love_Ajin</a:t>
            </a:r>
            <a:endParaRPr lang="en-US" altLang="ko-KR" sz="2400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31599-30FF-DF0E-099F-04DC52318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9EEFF7FB-DEF9-64F6-1547-E0A1EC291168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3" name="Text 3">
            <a:extLst>
              <a:ext uri="{FF2B5EF4-FFF2-40B4-BE49-F238E27FC236}">
                <a16:creationId xmlns:a16="http://schemas.microsoft.com/office/drawing/2014/main" id="{03D3CA4F-F22E-A411-1B71-64D16CBFD7FF}"/>
              </a:ext>
            </a:extLst>
          </p:cNvPr>
          <p:cNvSpPr/>
          <p:nvPr/>
        </p:nvSpPr>
        <p:spPr>
          <a:xfrm>
            <a:off x="1005840" y="1752600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인의 공략 캐릭터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D35E89EB-E939-CBD8-5D8F-526BC0B23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5029199"/>
            <a:ext cx="3810000" cy="5397500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7F20A46B-337B-86DB-1E48-A3BC665F7C04}"/>
              </a:ext>
            </a:extLst>
          </p:cNvPr>
          <p:cNvSpPr txBox="1"/>
          <p:nvPr/>
        </p:nvSpPr>
        <p:spPr>
          <a:xfrm>
            <a:off x="1689100" y="3568699"/>
            <a:ext cx="3962400" cy="7112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하원준</a:t>
            </a:r>
            <a:endParaRPr lang="en-US" sz="4000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E6638335-8C37-9126-1F32-EA53AA69FCEB}"/>
              </a:ext>
            </a:extLst>
          </p:cNvPr>
          <p:cNvSpPr txBox="1"/>
          <p:nvPr/>
        </p:nvSpPr>
        <p:spPr>
          <a:xfrm>
            <a:off x="1701800" y="4406899"/>
            <a:ext cx="3911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냉철한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본부장</a:t>
            </a:r>
            <a:endParaRPr lang="en-US" sz="2666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594E95AB-4AAD-FC7F-7BB1-9B8B6429CF52}"/>
              </a:ext>
            </a:extLst>
          </p:cNvPr>
          <p:cNvSpPr txBox="1"/>
          <p:nvPr/>
        </p:nvSpPr>
        <p:spPr>
          <a:xfrm>
            <a:off x="2006600" y="10642599"/>
            <a:ext cx="3314700" cy="901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무심한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듯 </a:t>
            </a: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세심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상사</a:t>
            </a:r>
            <a:endParaRPr lang="en-US" sz="2527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ctr">
              <a:lnSpc>
                <a:spcPct val="116199"/>
              </a:lnSpc>
            </a:pPr>
            <a:r>
              <a:rPr lang="en-US" sz="2527" b="0" i="0" u="none" strike="noStrike" dirty="0" err="1">
                <a:solidFill>
                  <a:srgbClr val="FD67C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완벽주의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숨겨진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다정함</a:t>
            </a:r>
            <a:endParaRPr lang="en-US" sz="2527" b="0" i="0" u="none" strike="noStrike" dirty="0">
              <a:solidFill>
                <a:srgbClr val="F059B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AAE90A93-1355-C118-AC55-1CE08FE6C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5029199"/>
            <a:ext cx="3810000" cy="5397500"/>
          </a:xfrm>
          <a:prstGeom prst="rect">
            <a:avLst/>
          </a:prstGeom>
        </p:spPr>
      </p:pic>
      <p:sp>
        <p:nvSpPr>
          <p:cNvPr id="8" name="TextBox 13">
            <a:extLst>
              <a:ext uri="{FF2B5EF4-FFF2-40B4-BE49-F238E27FC236}">
                <a16:creationId xmlns:a16="http://schemas.microsoft.com/office/drawing/2014/main" id="{E1742709-47FB-D3A3-1EC5-A684F8B867EE}"/>
              </a:ext>
            </a:extLst>
          </p:cNvPr>
          <p:cNvSpPr txBox="1"/>
          <p:nvPr/>
        </p:nvSpPr>
        <p:spPr>
          <a:xfrm>
            <a:off x="7162800" y="3568699"/>
            <a:ext cx="3962400" cy="7112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1" i="0" u="none" strike="noStrike" spc="-1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류인환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33227D1-DC3E-6EDD-7A25-5D24A27F2E2F}"/>
              </a:ext>
            </a:extLst>
          </p:cNvPr>
          <p:cNvSpPr txBox="1"/>
          <p:nvPr/>
        </p:nvSpPr>
        <p:spPr>
          <a:xfrm>
            <a:off x="7175500" y="4406899"/>
            <a:ext cx="3911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다정한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선배</a:t>
            </a:r>
            <a:endParaRPr lang="en-US" sz="2666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FC090476-9FA3-8346-19B6-93B4E1315A42}"/>
              </a:ext>
            </a:extLst>
          </p:cNvPr>
          <p:cNvSpPr txBox="1"/>
          <p:nvPr/>
        </p:nvSpPr>
        <p:spPr>
          <a:xfrm>
            <a:off x="7493000" y="10642599"/>
            <a:ext cx="3314700" cy="901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먼저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다가오는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선배</a:t>
            </a:r>
            <a:br>
              <a:rPr lang="en-US" sz="2527" b="0" i="0" u="none" strike="noStrike" dirty="0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따뜻한</a:t>
            </a:r>
            <a:r>
              <a:rPr lang="en-US" sz="2527" b="0" i="0" u="none" strike="noStrike" dirty="0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말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한마디로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위로</a:t>
            </a:r>
            <a:endParaRPr lang="en-US" sz="2527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1" name="Picture 16">
            <a:extLst>
              <a:ext uri="{FF2B5EF4-FFF2-40B4-BE49-F238E27FC236}">
                <a16:creationId xmlns:a16="http://schemas.microsoft.com/office/drawing/2014/main" id="{9A974052-94F1-EB1F-D019-659ADEBF0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2100" y="5029199"/>
            <a:ext cx="3810000" cy="5397500"/>
          </a:xfrm>
          <a:prstGeom prst="rect">
            <a:avLst/>
          </a:prstGeom>
        </p:spPr>
      </p:pic>
      <p:sp>
        <p:nvSpPr>
          <p:cNvPr id="12" name="TextBox 17">
            <a:extLst>
              <a:ext uri="{FF2B5EF4-FFF2-40B4-BE49-F238E27FC236}">
                <a16:creationId xmlns:a16="http://schemas.microsoft.com/office/drawing/2014/main" id="{11196A71-3E90-499D-E15D-970337F37050}"/>
              </a:ext>
            </a:extLst>
          </p:cNvPr>
          <p:cNvSpPr txBox="1"/>
          <p:nvPr/>
        </p:nvSpPr>
        <p:spPr>
          <a:xfrm>
            <a:off x="12915900" y="3568699"/>
            <a:ext cx="3962400" cy="7112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1" i="0" u="none" strike="noStrike" spc="-1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김용주</a:t>
            </a: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CF8A9998-8B34-0771-78DC-9ABDF8022DA7}"/>
              </a:ext>
            </a:extLst>
          </p:cNvPr>
          <p:cNvSpPr txBox="1"/>
          <p:nvPr/>
        </p:nvSpPr>
        <p:spPr>
          <a:xfrm>
            <a:off x="12928600" y="4406899"/>
            <a:ext cx="3911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완벽주의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동기</a:t>
            </a:r>
            <a:endParaRPr lang="en-US" sz="2666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3AD6EA8-C8C8-24BE-106B-8E1C72230DE3}"/>
              </a:ext>
            </a:extLst>
          </p:cNvPr>
          <p:cNvSpPr txBox="1"/>
          <p:nvPr/>
        </p:nvSpPr>
        <p:spPr>
          <a:xfrm>
            <a:off x="12941300" y="10642599"/>
            <a:ext cx="3911600" cy="901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얄미운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경쟁자인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줄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알았는데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
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나를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제일</a:t>
            </a:r>
            <a:r>
              <a:rPr lang="en-US" sz="2527" b="0" i="0" u="none" strike="noStrike" dirty="0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오래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바라본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사람</a:t>
            </a:r>
            <a:endParaRPr lang="en-US" sz="2527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5" name="Picture 20">
            <a:extLst>
              <a:ext uri="{FF2B5EF4-FFF2-40B4-BE49-F238E27FC236}">
                <a16:creationId xmlns:a16="http://schemas.microsoft.com/office/drawing/2014/main" id="{B0CE1946-AD82-052F-70C3-F8302E6F1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65800" y="5029199"/>
            <a:ext cx="3810000" cy="5397500"/>
          </a:xfrm>
          <a:prstGeom prst="rect">
            <a:avLst/>
          </a:prstGeom>
        </p:spPr>
      </p:pic>
      <p:sp>
        <p:nvSpPr>
          <p:cNvPr id="16" name="TextBox 21">
            <a:extLst>
              <a:ext uri="{FF2B5EF4-FFF2-40B4-BE49-F238E27FC236}">
                <a16:creationId xmlns:a16="http://schemas.microsoft.com/office/drawing/2014/main" id="{9361A29F-9222-82F2-B6A6-A27A1FCC7699}"/>
              </a:ext>
            </a:extLst>
          </p:cNvPr>
          <p:cNvSpPr txBox="1"/>
          <p:nvPr/>
        </p:nvSpPr>
        <p:spPr>
          <a:xfrm>
            <a:off x="18389600" y="3568699"/>
            <a:ext cx="3962400" cy="7112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1" i="0" u="none" strike="noStrike" spc="-1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김도경</a:t>
            </a:r>
          </a:p>
        </p:txBody>
      </p:sp>
      <p:sp>
        <p:nvSpPr>
          <p:cNvPr id="17" name="TextBox 22">
            <a:extLst>
              <a:ext uri="{FF2B5EF4-FFF2-40B4-BE49-F238E27FC236}">
                <a16:creationId xmlns:a16="http://schemas.microsoft.com/office/drawing/2014/main" id="{89775717-F2EC-8288-9F1C-F591359EF7E5}"/>
              </a:ext>
            </a:extLst>
          </p:cNvPr>
          <p:cNvSpPr txBox="1"/>
          <p:nvPr/>
        </p:nvSpPr>
        <p:spPr>
          <a:xfrm>
            <a:off x="18415000" y="4406899"/>
            <a:ext cx="3911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대형견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인턴</a:t>
            </a:r>
            <a:endParaRPr lang="en-US" sz="2666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04BD67AB-8BFF-19CD-87B5-93F6C6935403}"/>
              </a:ext>
            </a:extLst>
          </p:cNvPr>
          <p:cNvSpPr txBox="1"/>
          <p:nvPr/>
        </p:nvSpPr>
        <p:spPr>
          <a:xfrm>
            <a:off x="18161000" y="10642599"/>
            <a:ext cx="4457700" cy="901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해맑고</a:t>
            </a:r>
            <a:r>
              <a:rPr lang="en-US" sz="2527" b="0" i="0" u="none" strike="noStrike" dirty="0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충성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스러운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막내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
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칭찬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한마디에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우주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빛나는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사람</a:t>
            </a:r>
            <a:endParaRPr lang="en-US" sz="2527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952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2" grpId="0"/>
      <p:bldP spid="13" grpId="0"/>
      <p:bldP spid="14" grpId="0"/>
      <p:bldP spid="16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78E23-49B6-55E8-EB05-D3AB9E9B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B728877F-68CF-4B4C-0F1B-185A0A515B92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3" name="Text 3">
            <a:extLst>
              <a:ext uri="{FF2B5EF4-FFF2-40B4-BE49-F238E27FC236}">
                <a16:creationId xmlns:a16="http://schemas.microsoft.com/office/drawing/2014/main" id="{909E8A6A-C677-3C8E-4DD4-A419C521C4D4}"/>
              </a:ext>
            </a:extLst>
          </p:cNvPr>
          <p:cNvSpPr/>
          <p:nvPr/>
        </p:nvSpPr>
        <p:spPr>
          <a:xfrm>
            <a:off x="1005840" y="1752600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 시스템 &amp; 일일 행동 구조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4" name="Text 4">
            <a:extLst>
              <a:ext uri="{FF2B5EF4-FFF2-40B4-BE49-F238E27FC236}">
                <a16:creationId xmlns:a16="http://schemas.microsoft.com/office/drawing/2014/main" id="{A264DB0D-5912-845D-D0DC-7F9C7FE15870}"/>
              </a:ext>
            </a:extLst>
          </p:cNvPr>
          <p:cNvSpPr/>
          <p:nvPr/>
        </p:nvSpPr>
        <p:spPr>
          <a:xfrm>
            <a:off x="1005840" y="2977896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10일 × 하루 2번 행동 — 총 20번의 선택이 엔딩을 결정합니다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1DA06E1-E327-85D0-7032-7474E003A6D0}"/>
              </a:ext>
            </a:extLst>
          </p:cNvPr>
          <p:cNvGrpSpPr/>
          <p:nvPr/>
        </p:nvGrpSpPr>
        <p:grpSpPr>
          <a:xfrm>
            <a:off x="1005840" y="4715255"/>
            <a:ext cx="7589520" cy="4937753"/>
            <a:chOff x="1005840" y="3892296"/>
            <a:chExt cx="7589520" cy="4389120"/>
          </a:xfrm>
        </p:grpSpPr>
        <p:sp>
          <p:nvSpPr>
            <p:cNvPr id="95" name="Shape 5">
              <a:extLst>
                <a:ext uri="{FF2B5EF4-FFF2-40B4-BE49-F238E27FC236}">
                  <a16:creationId xmlns:a16="http://schemas.microsoft.com/office/drawing/2014/main" id="{5870DD7B-963F-7D14-9D90-7212847E0CBF}"/>
                </a:ext>
              </a:extLst>
            </p:cNvPr>
            <p:cNvSpPr/>
            <p:nvPr/>
          </p:nvSpPr>
          <p:spPr>
            <a:xfrm>
              <a:off x="1005840" y="3892296"/>
              <a:ext cx="7589520" cy="438912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6" name="Text 6">
              <a:extLst>
                <a:ext uri="{FF2B5EF4-FFF2-40B4-BE49-F238E27FC236}">
                  <a16:creationId xmlns:a16="http://schemas.microsoft.com/office/drawing/2014/main" id="{9C9C629A-282A-EAEF-017B-1C28BE9E2E3A}"/>
                </a:ext>
              </a:extLst>
            </p:cNvPr>
            <p:cNvSpPr/>
            <p:nvPr/>
          </p:nvSpPr>
          <p:spPr>
            <a:xfrm>
              <a:off x="1371600" y="4184904"/>
              <a:ext cx="6858000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D4679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⚡  AP (행동력) 시스템</a:t>
              </a:r>
              <a:endParaRPr 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7" name="Text 7">
              <a:extLst>
                <a:ext uri="{FF2B5EF4-FFF2-40B4-BE49-F238E27FC236}">
                  <a16:creationId xmlns:a16="http://schemas.microsoft.com/office/drawing/2014/main" id="{101AC3C0-FEF3-7D23-C59D-39D583E6EC94}"/>
                </a:ext>
              </a:extLst>
            </p:cNvPr>
            <p:cNvSpPr/>
            <p:nvPr/>
          </p:nvSpPr>
          <p:spPr>
            <a:xfrm>
              <a:off x="1371600" y="4916424"/>
              <a:ext cx="6858000" cy="3108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5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하루 2번 행동 가능 (actions_left = 2)</a:t>
              </a:r>
              <a:endParaRPr lang="en-US" sz="2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sz="25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모든 행동 소모 후 자동으로 다음 날로 이동</a:t>
              </a:r>
              <a:endParaRPr lang="en-US" sz="2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sz="25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총 10일 × 2회 = 20번의 선택이 누적됩니다</a:t>
              </a:r>
              <a:endParaRPr lang="en-US" sz="2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98" name="Text 8">
            <a:extLst>
              <a:ext uri="{FF2B5EF4-FFF2-40B4-BE49-F238E27FC236}">
                <a16:creationId xmlns:a16="http://schemas.microsoft.com/office/drawing/2014/main" id="{4F7B2B0D-1A71-93DA-5DC6-E454E6ABD4EA}"/>
              </a:ext>
            </a:extLst>
          </p:cNvPr>
          <p:cNvSpPr/>
          <p:nvPr/>
        </p:nvSpPr>
        <p:spPr>
          <a:xfrm>
            <a:off x="9235440" y="3892296"/>
            <a:ext cx="1389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일일 행동 선택지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9" name="Shape 9">
            <a:extLst>
              <a:ext uri="{FF2B5EF4-FFF2-40B4-BE49-F238E27FC236}">
                <a16:creationId xmlns:a16="http://schemas.microsoft.com/office/drawing/2014/main" id="{6BF5284C-36CF-E6F0-7065-D7124B78DF7D}"/>
              </a:ext>
            </a:extLst>
          </p:cNvPr>
          <p:cNvSpPr/>
          <p:nvPr/>
        </p:nvSpPr>
        <p:spPr>
          <a:xfrm>
            <a:off x="9235440" y="4715256"/>
            <a:ext cx="14264640" cy="9144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0" name="Shape 10">
            <a:extLst>
              <a:ext uri="{FF2B5EF4-FFF2-40B4-BE49-F238E27FC236}">
                <a16:creationId xmlns:a16="http://schemas.microsoft.com/office/drawing/2014/main" id="{6A12040C-C5CC-AED7-24C4-A3790596F6FF}"/>
              </a:ext>
            </a:extLst>
          </p:cNvPr>
          <p:cNvSpPr/>
          <p:nvPr/>
        </p:nvSpPr>
        <p:spPr>
          <a:xfrm>
            <a:off x="9418320" y="4879848"/>
            <a:ext cx="585216" cy="585216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1" name="Text 11">
            <a:extLst>
              <a:ext uri="{FF2B5EF4-FFF2-40B4-BE49-F238E27FC236}">
                <a16:creationId xmlns:a16="http://schemas.microsoft.com/office/drawing/2014/main" id="{F7ACB898-64A7-93E8-8693-547888BE2E54}"/>
              </a:ext>
            </a:extLst>
          </p:cNvPr>
          <p:cNvSpPr/>
          <p:nvPr/>
        </p:nvSpPr>
        <p:spPr>
          <a:xfrm>
            <a:off x="10204704" y="48432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폭풍 업무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2" name="Text 12">
            <a:extLst>
              <a:ext uri="{FF2B5EF4-FFF2-40B4-BE49-F238E27FC236}">
                <a16:creationId xmlns:a16="http://schemas.microsoft.com/office/drawing/2014/main" id="{1FFA73DA-F769-5528-27AE-13DE16F78B98}"/>
              </a:ext>
            </a:extLst>
          </p:cNvPr>
          <p:cNvSpPr/>
          <p:nvPr/>
        </p:nvSpPr>
        <p:spPr>
          <a:xfrm>
            <a:off x="14118336" y="48432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지능 +15  스트레스 +20  골드 +150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3" name="Shape 13">
            <a:extLst>
              <a:ext uri="{FF2B5EF4-FFF2-40B4-BE49-F238E27FC236}">
                <a16:creationId xmlns:a16="http://schemas.microsoft.com/office/drawing/2014/main" id="{7E6A2ED4-18B4-47B9-638B-7087C1475E8F}"/>
              </a:ext>
            </a:extLst>
          </p:cNvPr>
          <p:cNvSpPr/>
          <p:nvPr/>
        </p:nvSpPr>
        <p:spPr>
          <a:xfrm>
            <a:off x="9235440" y="5721096"/>
            <a:ext cx="14264640" cy="9144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4" name="Shape 14">
            <a:extLst>
              <a:ext uri="{FF2B5EF4-FFF2-40B4-BE49-F238E27FC236}">
                <a16:creationId xmlns:a16="http://schemas.microsoft.com/office/drawing/2014/main" id="{BE79CA2F-8622-0B9E-B50F-6568BBD72E6A}"/>
              </a:ext>
            </a:extLst>
          </p:cNvPr>
          <p:cNvSpPr/>
          <p:nvPr/>
        </p:nvSpPr>
        <p:spPr>
          <a:xfrm>
            <a:off x="9418320" y="5885688"/>
            <a:ext cx="585216" cy="585216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8968FB49-C803-7478-E42E-18B056F395AD}"/>
              </a:ext>
            </a:extLst>
          </p:cNvPr>
          <p:cNvSpPr/>
          <p:nvPr/>
        </p:nvSpPr>
        <p:spPr>
          <a:xfrm>
            <a:off x="10204704" y="58491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외모 정비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6" name="Text 16">
            <a:extLst>
              <a:ext uri="{FF2B5EF4-FFF2-40B4-BE49-F238E27FC236}">
                <a16:creationId xmlns:a16="http://schemas.microsoft.com/office/drawing/2014/main" id="{180B85F1-6F4D-388E-F7A1-7F71A8D6C561}"/>
              </a:ext>
            </a:extLst>
          </p:cNvPr>
          <p:cNvSpPr/>
          <p:nvPr/>
        </p:nvSpPr>
        <p:spPr>
          <a:xfrm>
            <a:off x="14118336" y="58491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매력 +20  스트레스 -5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7" name="Shape 17">
            <a:extLst>
              <a:ext uri="{FF2B5EF4-FFF2-40B4-BE49-F238E27FC236}">
                <a16:creationId xmlns:a16="http://schemas.microsoft.com/office/drawing/2014/main" id="{79161433-1372-65BE-1F6A-B9041F87CDC8}"/>
              </a:ext>
            </a:extLst>
          </p:cNvPr>
          <p:cNvSpPr/>
          <p:nvPr/>
        </p:nvSpPr>
        <p:spPr>
          <a:xfrm>
            <a:off x="9235440" y="6726936"/>
            <a:ext cx="14264640" cy="9144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8" name="Shape 18">
            <a:extLst>
              <a:ext uri="{FF2B5EF4-FFF2-40B4-BE49-F238E27FC236}">
                <a16:creationId xmlns:a16="http://schemas.microsoft.com/office/drawing/2014/main" id="{57694491-1E70-A2FD-C465-D7F6929F0248}"/>
              </a:ext>
            </a:extLst>
          </p:cNvPr>
          <p:cNvSpPr/>
          <p:nvPr/>
        </p:nvSpPr>
        <p:spPr>
          <a:xfrm>
            <a:off x="9418320" y="6891528"/>
            <a:ext cx="585216" cy="585216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9" name="Text 19">
            <a:extLst>
              <a:ext uri="{FF2B5EF4-FFF2-40B4-BE49-F238E27FC236}">
                <a16:creationId xmlns:a16="http://schemas.microsoft.com/office/drawing/2014/main" id="{845F65E9-D236-32C5-7F49-F77055B30154}"/>
              </a:ext>
            </a:extLst>
          </p:cNvPr>
          <p:cNvSpPr/>
          <p:nvPr/>
        </p:nvSpPr>
        <p:spPr>
          <a:xfrm>
            <a:off x="10204704" y="68549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사내 매점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0" name="Text 20">
            <a:extLst>
              <a:ext uri="{FF2B5EF4-FFF2-40B4-BE49-F238E27FC236}">
                <a16:creationId xmlns:a16="http://schemas.microsoft.com/office/drawing/2014/main" id="{275A9B28-B7F8-E675-A69E-7247794D416B}"/>
              </a:ext>
            </a:extLst>
          </p:cNvPr>
          <p:cNvSpPr/>
          <p:nvPr/>
        </p:nvSpPr>
        <p:spPr>
          <a:xfrm>
            <a:off x="14118336" y="685495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아이템 구매 → 즉시 효과 적용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1" name="Shape 21">
            <a:extLst>
              <a:ext uri="{FF2B5EF4-FFF2-40B4-BE49-F238E27FC236}">
                <a16:creationId xmlns:a16="http://schemas.microsoft.com/office/drawing/2014/main" id="{223FB2B2-31AF-D96B-FF19-F464DA7B50EE}"/>
              </a:ext>
            </a:extLst>
          </p:cNvPr>
          <p:cNvSpPr/>
          <p:nvPr/>
        </p:nvSpPr>
        <p:spPr>
          <a:xfrm>
            <a:off x="9235440" y="7732776"/>
            <a:ext cx="14264640" cy="9144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2" name="Shape 22">
            <a:extLst>
              <a:ext uri="{FF2B5EF4-FFF2-40B4-BE49-F238E27FC236}">
                <a16:creationId xmlns:a16="http://schemas.microsoft.com/office/drawing/2014/main" id="{D1D7AFE8-C1D5-2EAD-C526-A937A5FC6C2C}"/>
              </a:ext>
            </a:extLst>
          </p:cNvPr>
          <p:cNvSpPr/>
          <p:nvPr/>
        </p:nvSpPr>
        <p:spPr>
          <a:xfrm>
            <a:off x="9418320" y="7897368"/>
            <a:ext cx="585216" cy="585216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3" name="Text 23">
            <a:extLst>
              <a:ext uri="{FF2B5EF4-FFF2-40B4-BE49-F238E27FC236}">
                <a16:creationId xmlns:a16="http://schemas.microsoft.com/office/drawing/2014/main" id="{0BC21051-2C27-F536-E06A-D7C4EBE83344}"/>
              </a:ext>
            </a:extLst>
          </p:cNvPr>
          <p:cNvSpPr/>
          <p:nvPr/>
        </p:nvSpPr>
        <p:spPr>
          <a:xfrm>
            <a:off x="10204704" y="786079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남직원 대화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4" name="Text 24">
            <a:extLst>
              <a:ext uri="{FF2B5EF4-FFF2-40B4-BE49-F238E27FC236}">
                <a16:creationId xmlns:a16="http://schemas.microsoft.com/office/drawing/2014/main" id="{DE33635D-47C0-78AD-6542-AEE5DEAB470C}"/>
              </a:ext>
            </a:extLst>
          </p:cNvPr>
          <p:cNvSpPr/>
          <p:nvPr/>
        </p:nvSpPr>
        <p:spPr>
          <a:xfrm>
            <a:off x="14118336" y="78607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호감도 +5 ~ +28 (선택지별 차등)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5" name="Shape 25">
            <a:extLst>
              <a:ext uri="{FF2B5EF4-FFF2-40B4-BE49-F238E27FC236}">
                <a16:creationId xmlns:a16="http://schemas.microsoft.com/office/drawing/2014/main" id="{FD138DAA-369C-1DC9-F477-547D91EE2502}"/>
              </a:ext>
            </a:extLst>
          </p:cNvPr>
          <p:cNvSpPr/>
          <p:nvPr/>
        </p:nvSpPr>
        <p:spPr>
          <a:xfrm>
            <a:off x="9235440" y="8738616"/>
            <a:ext cx="14264640" cy="9144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6" name="Shape 26">
            <a:extLst>
              <a:ext uri="{FF2B5EF4-FFF2-40B4-BE49-F238E27FC236}">
                <a16:creationId xmlns:a16="http://schemas.microsoft.com/office/drawing/2014/main" id="{3B590EEC-C343-0FA1-4BD6-831407551CBE}"/>
              </a:ext>
            </a:extLst>
          </p:cNvPr>
          <p:cNvSpPr/>
          <p:nvPr/>
        </p:nvSpPr>
        <p:spPr>
          <a:xfrm>
            <a:off x="9418320" y="8903208"/>
            <a:ext cx="585216" cy="585216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7" name="Text 27">
            <a:extLst>
              <a:ext uri="{FF2B5EF4-FFF2-40B4-BE49-F238E27FC236}">
                <a16:creationId xmlns:a16="http://schemas.microsoft.com/office/drawing/2014/main" id="{C8624C6D-2254-C871-40E2-71B1B07C767F}"/>
              </a:ext>
            </a:extLst>
          </p:cNvPr>
          <p:cNvSpPr/>
          <p:nvPr/>
        </p:nvSpPr>
        <p:spPr>
          <a:xfrm>
            <a:off x="10204704" y="8866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잠깐 휴식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8" name="Text 28">
            <a:extLst>
              <a:ext uri="{FF2B5EF4-FFF2-40B4-BE49-F238E27FC236}">
                <a16:creationId xmlns:a16="http://schemas.microsoft.com/office/drawing/2014/main" id="{8F993D22-13DA-CE1B-C22E-EA29EBE88F64}"/>
              </a:ext>
            </a:extLst>
          </p:cNvPr>
          <p:cNvSpPr/>
          <p:nvPr/>
        </p:nvSpPr>
        <p:spPr>
          <a:xfrm>
            <a:off x="14118336" y="886663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스트레스 -25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9" name="Shape 29">
            <a:extLst>
              <a:ext uri="{FF2B5EF4-FFF2-40B4-BE49-F238E27FC236}">
                <a16:creationId xmlns:a16="http://schemas.microsoft.com/office/drawing/2014/main" id="{DF809DB4-853F-6403-6402-9B6FA2D6AF97}"/>
              </a:ext>
            </a:extLst>
          </p:cNvPr>
          <p:cNvSpPr/>
          <p:nvPr/>
        </p:nvSpPr>
        <p:spPr>
          <a:xfrm>
            <a:off x="1005840" y="10567416"/>
            <a:ext cx="3474720" cy="1316736"/>
          </a:xfrm>
          <a:prstGeom prst="roundRect">
            <a:avLst>
              <a:gd name="adj" fmla="val 13889"/>
            </a:avLst>
          </a:prstGeom>
          <a:solidFill>
            <a:srgbClr val="F7C4D8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0" name="Text 30">
            <a:extLst>
              <a:ext uri="{FF2B5EF4-FFF2-40B4-BE49-F238E27FC236}">
                <a16:creationId xmlns:a16="http://schemas.microsoft.com/office/drawing/2014/main" id="{130B633A-AEA6-C04B-F29E-157CD0ADA20C}"/>
              </a:ext>
            </a:extLst>
          </p:cNvPr>
          <p:cNvSpPr/>
          <p:nvPr/>
        </p:nvSpPr>
        <p:spPr>
          <a:xfrm>
            <a:off x="1005840" y="10567416"/>
            <a:ext cx="34747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Day 1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1" name="Shape 31">
            <a:extLst>
              <a:ext uri="{FF2B5EF4-FFF2-40B4-BE49-F238E27FC236}">
                <a16:creationId xmlns:a16="http://schemas.microsoft.com/office/drawing/2014/main" id="{7674F563-E227-77B9-65A4-49B4277B7A5D}"/>
              </a:ext>
            </a:extLst>
          </p:cNvPr>
          <p:cNvSpPr/>
          <p:nvPr/>
        </p:nvSpPr>
        <p:spPr>
          <a:xfrm>
            <a:off x="4517136" y="11225784"/>
            <a:ext cx="256032" cy="0"/>
          </a:xfrm>
          <a:prstGeom prst="line">
            <a:avLst/>
          </a:prstGeom>
          <a:noFill/>
          <a:ln w="19050">
            <a:solidFill>
              <a:srgbClr val="D4679A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2" name="Shape 32">
            <a:extLst>
              <a:ext uri="{FF2B5EF4-FFF2-40B4-BE49-F238E27FC236}">
                <a16:creationId xmlns:a16="http://schemas.microsoft.com/office/drawing/2014/main" id="{BCD992BC-F567-23CD-1530-D5C7FFCAA4DE}"/>
              </a:ext>
            </a:extLst>
          </p:cNvPr>
          <p:cNvSpPr/>
          <p:nvPr/>
        </p:nvSpPr>
        <p:spPr>
          <a:xfrm>
            <a:off x="4809744" y="10567416"/>
            <a:ext cx="3474720" cy="1316736"/>
          </a:xfrm>
          <a:prstGeom prst="roundRect">
            <a:avLst>
              <a:gd name="adj" fmla="val 13889"/>
            </a:avLst>
          </a:prstGeom>
          <a:solidFill>
            <a:srgbClr val="F7C4D8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3" name="Text 33">
            <a:extLst>
              <a:ext uri="{FF2B5EF4-FFF2-40B4-BE49-F238E27FC236}">
                <a16:creationId xmlns:a16="http://schemas.microsoft.com/office/drawing/2014/main" id="{949ACCB3-7BA7-F530-4C98-A053F57D5AE9}"/>
              </a:ext>
            </a:extLst>
          </p:cNvPr>
          <p:cNvSpPr/>
          <p:nvPr/>
        </p:nvSpPr>
        <p:spPr>
          <a:xfrm>
            <a:off x="4809744" y="10567416"/>
            <a:ext cx="34747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행동 선택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(×2)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4" name="Shape 34">
            <a:extLst>
              <a:ext uri="{FF2B5EF4-FFF2-40B4-BE49-F238E27FC236}">
                <a16:creationId xmlns:a16="http://schemas.microsoft.com/office/drawing/2014/main" id="{994FACC9-1C6E-C69D-C950-FA8B884BB442}"/>
              </a:ext>
            </a:extLst>
          </p:cNvPr>
          <p:cNvSpPr/>
          <p:nvPr/>
        </p:nvSpPr>
        <p:spPr>
          <a:xfrm>
            <a:off x="8321040" y="11225784"/>
            <a:ext cx="256032" cy="0"/>
          </a:xfrm>
          <a:prstGeom prst="line">
            <a:avLst/>
          </a:prstGeom>
          <a:noFill/>
          <a:ln w="19050">
            <a:solidFill>
              <a:srgbClr val="D4679A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5" name="Shape 35">
            <a:extLst>
              <a:ext uri="{FF2B5EF4-FFF2-40B4-BE49-F238E27FC236}">
                <a16:creationId xmlns:a16="http://schemas.microsoft.com/office/drawing/2014/main" id="{153448AB-B386-C309-85F4-395799FE257D}"/>
              </a:ext>
            </a:extLst>
          </p:cNvPr>
          <p:cNvSpPr/>
          <p:nvPr/>
        </p:nvSpPr>
        <p:spPr>
          <a:xfrm>
            <a:off x="8613648" y="10567416"/>
            <a:ext cx="3474720" cy="1316736"/>
          </a:xfrm>
          <a:prstGeom prst="roundRect">
            <a:avLst>
              <a:gd name="adj" fmla="val 13889"/>
            </a:avLst>
          </a:prstGeom>
          <a:solidFill>
            <a:srgbClr val="F7C4D8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6" name="Text 36">
            <a:extLst>
              <a:ext uri="{FF2B5EF4-FFF2-40B4-BE49-F238E27FC236}">
                <a16:creationId xmlns:a16="http://schemas.microsoft.com/office/drawing/2014/main" id="{7DA99CA6-BF82-60E8-8611-ACCD26590B2C}"/>
              </a:ext>
            </a:extLst>
          </p:cNvPr>
          <p:cNvSpPr/>
          <p:nvPr/>
        </p:nvSpPr>
        <p:spPr>
          <a:xfrm>
            <a:off x="8613648" y="10567416"/>
            <a:ext cx="34747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스탯/호감도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갱신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7" name="Shape 37">
            <a:extLst>
              <a:ext uri="{FF2B5EF4-FFF2-40B4-BE49-F238E27FC236}">
                <a16:creationId xmlns:a16="http://schemas.microsoft.com/office/drawing/2014/main" id="{338F53C3-370D-AF5E-E416-D6D3F760E71F}"/>
              </a:ext>
            </a:extLst>
          </p:cNvPr>
          <p:cNvSpPr/>
          <p:nvPr/>
        </p:nvSpPr>
        <p:spPr>
          <a:xfrm>
            <a:off x="12124944" y="11225784"/>
            <a:ext cx="256032" cy="0"/>
          </a:xfrm>
          <a:prstGeom prst="line">
            <a:avLst/>
          </a:prstGeom>
          <a:noFill/>
          <a:ln w="19050">
            <a:solidFill>
              <a:srgbClr val="D4679A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8" name="Shape 38">
            <a:extLst>
              <a:ext uri="{FF2B5EF4-FFF2-40B4-BE49-F238E27FC236}">
                <a16:creationId xmlns:a16="http://schemas.microsoft.com/office/drawing/2014/main" id="{3B290594-8C23-6A56-D9F7-A2180D78E816}"/>
              </a:ext>
            </a:extLst>
          </p:cNvPr>
          <p:cNvSpPr/>
          <p:nvPr/>
        </p:nvSpPr>
        <p:spPr>
          <a:xfrm>
            <a:off x="12417552" y="10567416"/>
            <a:ext cx="3474720" cy="1316736"/>
          </a:xfrm>
          <a:prstGeom prst="roundRect">
            <a:avLst>
              <a:gd name="adj" fmla="val 13889"/>
            </a:avLst>
          </a:prstGeom>
          <a:solidFill>
            <a:srgbClr val="F7C4D8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9" name="Text 39">
            <a:extLst>
              <a:ext uri="{FF2B5EF4-FFF2-40B4-BE49-F238E27FC236}">
                <a16:creationId xmlns:a16="http://schemas.microsoft.com/office/drawing/2014/main" id="{88CFB691-8034-F9FD-1F88-D9A3C9DF6C7E}"/>
              </a:ext>
            </a:extLst>
          </p:cNvPr>
          <p:cNvSpPr/>
          <p:nvPr/>
        </p:nvSpPr>
        <p:spPr>
          <a:xfrm>
            <a:off x="12417552" y="10567416"/>
            <a:ext cx="34747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 저장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0" name="Shape 40">
            <a:extLst>
              <a:ext uri="{FF2B5EF4-FFF2-40B4-BE49-F238E27FC236}">
                <a16:creationId xmlns:a16="http://schemas.microsoft.com/office/drawing/2014/main" id="{E73A3283-928B-7947-E449-FBBCC462F356}"/>
              </a:ext>
            </a:extLst>
          </p:cNvPr>
          <p:cNvSpPr/>
          <p:nvPr/>
        </p:nvSpPr>
        <p:spPr>
          <a:xfrm>
            <a:off x="15928848" y="11225784"/>
            <a:ext cx="256032" cy="0"/>
          </a:xfrm>
          <a:prstGeom prst="line">
            <a:avLst/>
          </a:prstGeom>
          <a:noFill/>
          <a:ln w="19050">
            <a:solidFill>
              <a:srgbClr val="D4679A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1" name="Shape 41">
            <a:extLst>
              <a:ext uri="{FF2B5EF4-FFF2-40B4-BE49-F238E27FC236}">
                <a16:creationId xmlns:a16="http://schemas.microsoft.com/office/drawing/2014/main" id="{82D9937D-38ED-A692-E50F-36FE2A9B8FF8}"/>
              </a:ext>
            </a:extLst>
          </p:cNvPr>
          <p:cNvSpPr/>
          <p:nvPr/>
        </p:nvSpPr>
        <p:spPr>
          <a:xfrm>
            <a:off x="16221456" y="10567416"/>
            <a:ext cx="3474720" cy="1316736"/>
          </a:xfrm>
          <a:prstGeom prst="roundRect">
            <a:avLst>
              <a:gd name="adj" fmla="val 13889"/>
            </a:avLst>
          </a:prstGeom>
          <a:solidFill>
            <a:srgbClr val="F7C4D8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2" name="Text 42">
            <a:extLst>
              <a:ext uri="{FF2B5EF4-FFF2-40B4-BE49-F238E27FC236}">
                <a16:creationId xmlns:a16="http://schemas.microsoft.com/office/drawing/2014/main" id="{C732D17E-B27B-0BE3-0A4E-D64C6996FA6B}"/>
              </a:ext>
            </a:extLst>
          </p:cNvPr>
          <p:cNvSpPr/>
          <p:nvPr/>
        </p:nvSpPr>
        <p:spPr>
          <a:xfrm>
            <a:off x="16221456" y="10567416"/>
            <a:ext cx="34747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Day +1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3" name="Shape 43">
            <a:extLst>
              <a:ext uri="{FF2B5EF4-FFF2-40B4-BE49-F238E27FC236}">
                <a16:creationId xmlns:a16="http://schemas.microsoft.com/office/drawing/2014/main" id="{067B0391-1785-6182-9909-5624DF91152F}"/>
              </a:ext>
            </a:extLst>
          </p:cNvPr>
          <p:cNvSpPr/>
          <p:nvPr/>
        </p:nvSpPr>
        <p:spPr>
          <a:xfrm>
            <a:off x="19732752" y="11225784"/>
            <a:ext cx="256032" cy="0"/>
          </a:xfrm>
          <a:prstGeom prst="line">
            <a:avLst/>
          </a:prstGeom>
          <a:noFill/>
          <a:ln w="19050">
            <a:solidFill>
              <a:srgbClr val="D4679A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4" name="Shape 44">
            <a:extLst>
              <a:ext uri="{FF2B5EF4-FFF2-40B4-BE49-F238E27FC236}">
                <a16:creationId xmlns:a16="http://schemas.microsoft.com/office/drawing/2014/main" id="{A8C1FD0D-8357-950B-BFB0-9FEE6886F0E0}"/>
              </a:ext>
            </a:extLst>
          </p:cNvPr>
          <p:cNvSpPr/>
          <p:nvPr/>
        </p:nvSpPr>
        <p:spPr>
          <a:xfrm>
            <a:off x="20025360" y="10567416"/>
            <a:ext cx="3474720" cy="1316736"/>
          </a:xfrm>
          <a:prstGeom prst="roundRect">
            <a:avLst>
              <a:gd name="adj" fmla="val 13889"/>
            </a:avLst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5" name="Text 45">
            <a:extLst>
              <a:ext uri="{FF2B5EF4-FFF2-40B4-BE49-F238E27FC236}">
                <a16:creationId xmlns:a16="http://schemas.microsoft.com/office/drawing/2014/main" id="{948E3607-D4F6-E114-9E71-5D27904FE92A}"/>
              </a:ext>
            </a:extLst>
          </p:cNvPr>
          <p:cNvSpPr/>
          <p:nvPr/>
        </p:nvSpPr>
        <p:spPr>
          <a:xfrm>
            <a:off x="20025360" y="10567416"/>
            <a:ext cx="34747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Day 10 →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엔딩 분기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423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A6FBEB17-BDB8-9028-C22F-E9E206F44740}"/>
              </a:ext>
            </a:extLst>
          </p:cNvPr>
          <p:cNvSpPr/>
          <p:nvPr/>
        </p:nvSpPr>
        <p:spPr>
          <a:xfrm>
            <a:off x="1005840" y="2057400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대화 선택지 &amp; 호감도 시스템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B99D3C8F-F141-395A-C62B-FAE392E64641}"/>
              </a:ext>
            </a:extLst>
          </p:cNvPr>
          <p:cNvSpPr/>
          <p:nvPr/>
        </p:nvSpPr>
        <p:spPr>
          <a:xfrm>
            <a:off x="1005840" y="3282696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남주별 6가지 선택지 — 발언에 따라 호감도가 차등 적용됩니다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F0679F00-8053-3E62-B3E7-702EFB3D0F33}"/>
              </a:ext>
            </a:extLst>
          </p:cNvPr>
          <p:cNvSpPr/>
          <p:nvPr/>
        </p:nvSpPr>
        <p:spPr>
          <a:xfrm>
            <a:off x="1005840" y="4953000"/>
            <a:ext cx="10149840" cy="5224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04161D3C-5611-C009-880E-5E352F0A84C5}"/>
              </a:ext>
            </a:extLst>
          </p:cNvPr>
          <p:cNvSpPr/>
          <p:nvPr/>
        </p:nvSpPr>
        <p:spPr>
          <a:xfrm>
            <a:off x="1371600" y="5334000"/>
            <a:ext cx="9418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대화 시스템 구조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58F9FBE5-6BA9-264E-745F-E20389BE5767}"/>
              </a:ext>
            </a:extLst>
          </p:cNvPr>
          <p:cNvSpPr/>
          <p:nvPr/>
        </p:nvSpPr>
        <p:spPr>
          <a:xfrm>
            <a:off x="1371600" y="6065520"/>
            <a:ext cx="9418320" cy="3813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buSzPct val="100000"/>
              <a:buChar char="•"/>
            </a:pPr>
            <a:r>
              <a:rPr lang="en-US" sz="3200" dirty="0" err="1"/>
              <a:t>호감도</a:t>
            </a:r>
            <a:r>
              <a:rPr lang="en-US" sz="3200" dirty="0"/>
              <a:t> </a:t>
            </a:r>
            <a:r>
              <a:rPr lang="en-US" sz="3200" dirty="0" err="1"/>
              <a:t>범위</a:t>
            </a:r>
            <a:r>
              <a:rPr lang="en-US" sz="3200" dirty="0"/>
              <a:t>: 0 ~ 100+</a:t>
            </a:r>
          </a:p>
          <a:p>
            <a:pPr marL="685800" indent="-685800">
              <a:buSzPct val="100000"/>
              <a:buChar char="•"/>
            </a:pPr>
            <a:r>
              <a:rPr lang="en-US" sz="3200" dirty="0" err="1"/>
              <a:t>선택지</a:t>
            </a:r>
            <a:r>
              <a:rPr lang="en-US" sz="3200" dirty="0"/>
              <a:t> 6개 </a:t>
            </a:r>
            <a:r>
              <a:rPr lang="en-US" sz="3200" dirty="0" err="1"/>
              <a:t>제공</a:t>
            </a:r>
            <a:r>
              <a:rPr lang="en-US" sz="3200" dirty="0"/>
              <a:t>, </a:t>
            </a:r>
            <a:r>
              <a:rPr lang="en-US" sz="3200" dirty="0" err="1"/>
              <a:t>응답에</a:t>
            </a:r>
            <a:r>
              <a:rPr lang="en-US" sz="3200" dirty="0"/>
              <a:t> </a:t>
            </a:r>
            <a:r>
              <a:rPr lang="en-US" sz="3200" dirty="0" err="1"/>
              <a:t>따라</a:t>
            </a:r>
            <a:r>
              <a:rPr lang="en-US" sz="3200" dirty="0"/>
              <a:t> +5 ~ +28 </a:t>
            </a:r>
            <a:r>
              <a:rPr lang="en-US" sz="3200" dirty="0" err="1"/>
              <a:t>차등</a:t>
            </a:r>
            <a:r>
              <a:rPr lang="en-US" sz="3200" dirty="0"/>
              <a:t> </a:t>
            </a:r>
            <a:r>
              <a:rPr lang="en-US" sz="3200" dirty="0" err="1"/>
              <a:t>적용</a:t>
            </a:r>
            <a:endParaRPr lang="en-US" sz="3200" dirty="0"/>
          </a:p>
          <a:p>
            <a:pPr marL="685800" indent="-685800">
              <a:buSzPct val="100000"/>
              <a:buChar char="•"/>
            </a:pPr>
            <a:r>
              <a:rPr lang="en-US" sz="3200" dirty="0" err="1"/>
              <a:t>부정적</a:t>
            </a:r>
            <a:r>
              <a:rPr lang="en-US" sz="3200" dirty="0"/>
              <a:t> </a:t>
            </a:r>
            <a:r>
              <a:rPr lang="en-US" sz="3200" dirty="0" err="1"/>
              <a:t>선택</a:t>
            </a:r>
            <a:r>
              <a:rPr lang="en-US" sz="3200" dirty="0"/>
              <a:t> 시 -4 ~ -6 </a:t>
            </a:r>
            <a:r>
              <a:rPr lang="en-US" sz="3200" dirty="0" err="1"/>
              <a:t>패널티</a:t>
            </a:r>
            <a:r>
              <a:rPr lang="en-US" sz="3200" dirty="0"/>
              <a:t> </a:t>
            </a:r>
            <a:r>
              <a:rPr lang="en-US" sz="3200" dirty="0" err="1"/>
              <a:t>발생</a:t>
            </a:r>
            <a:endParaRPr lang="en-US" sz="3200" dirty="0"/>
          </a:p>
          <a:p>
            <a:pPr marL="685800" indent="-685800">
              <a:buSzPct val="100000"/>
              <a:buChar char="•"/>
            </a:pPr>
            <a:r>
              <a:rPr lang="en-US" sz="3200" dirty="0"/>
              <a:t>각 </a:t>
            </a:r>
            <a:r>
              <a:rPr lang="en-US" sz="3200" dirty="0" err="1"/>
              <a:t>대화</a:t>
            </a:r>
            <a:r>
              <a:rPr lang="en-US" sz="3200" dirty="0"/>
              <a:t> 후 </a:t>
            </a:r>
            <a:r>
              <a:rPr lang="en-US" sz="3200" dirty="0" err="1"/>
              <a:t>랜덤</a:t>
            </a:r>
            <a:r>
              <a:rPr lang="en-US" sz="3200" dirty="0"/>
              <a:t> </a:t>
            </a:r>
            <a:r>
              <a:rPr lang="en-US" sz="3200" dirty="0" err="1"/>
              <a:t>반응</a:t>
            </a:r>
            <a:r>
              <a:rPr lang="en-US" sz="3200" dirty="0"/>
              <a:t> </a:t>
            </a:r>
            <a:r>
              <a:rPr lang="en-US" sz="3200" dirty="0" err="1"/>
              <a:t>이미지</a:t>
            </a:r>
            <a:r>
              <a:rPr lang="en-US" sz="3200" dirty="0"/>
              <a:t>(02~03) </a:t>
            </a:r>
            <a:r>
              <a:rPr lang="en-US" sz="3200" dirty="0" err="1"/>
              <a:t>표시</a:t>
            </a:r>
            <a:endParaRPr lang="en-US" sz="3200" dirty="0"/>
          </a:p>
          <a:p>
            <a:pPr marL="685800" indent="-685800">
              <a:buSzPct val="100000"/>
              <a:buChar char="•"/>
            </a:pPr>
            <a:r>
              <a:rPr lang="en-US" sz="3200" dirty="0"/>
              <a:t>10일 </a:t>
            </a:r>
            <a:r>
              <a:rPr lang="en-US" sz="3200" dirty="0" err="1"/>
              <a:t>종료</a:t>
            </a:r>
            <a:r>
              <a:rPr lang="en-US" sz="3200" dirty="0"/>
              <a:t> 후 </a:t>
            </a:r>
            <a:r>
              <a:rPr lang="en-US" sz="3200" dirty="0" err="1"/>
              <a:t>최고</a:t>
            </a:r>
            <a:r>
              <a:rPr lang="en-US" sz="3200" dirty="0"/>
              <a:t> </a:t>
            </a:r>
            <a:r>
              <a:rPr lang="en-US" sz="3200" dirty="0" err="1"/>
              <a:t>호감도</a:t>
            </a:r>
            <a:r>
              <a:rPr lang="en-US" sz="3200" dirty="0"/>
              <a:t> </a:t>
            </a:r>
            <a:r>
              <a:rPr lang="en-US" sz="3200" dirty="0" err="1"/>
              <a:t>남주가</a:t>
            </a:r>
            <a:r>
              <a:rPr lang="en-US" sz="3200" dirty="0"/>
              <a:t> </a:t>
            </a:r>
            <a:r>
              <a:rPr lang="en-US" sz="3200" dirty="0" err="1"/>
              <a:t>엔딩</a:t>
            </a:r>
            <a:r>
              <a:rPr lang="en-US" sz="3200" dirty="0"/>
              <a:t> </a:t>
            </a:r>
            <a:r>
              <a:rPr lang="en-US" sz="3200" dirty="0" err="1"/>
              <a:t>결정</a:t>
            </a:r>
            <a:endParaRPr lang="en-US" sz="32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7177E49-B7A1-D3CA-F82E-13DA69BB3953}"/>
              </a:ext>
            </a:extLst>
          </p:cNvPr>
          <p:cNvSpPr/>
          <p:nvPr/>
        </p:nvSpPr>
        <p:spPr>
          <a:xfrm>
            <a:off x="11704320" y="4059936"/>
            <a:ext cx="1188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캐릭터별 호감도 분기 조건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AA4B8C0-FB57-0935-5336-5BFCF500FFAC}"/>
              </a:ext>
            </a:extLst>
          </p:cNvPr>
          <p:cNvGrpSpPr/>
          <p:nvPr/>
        </p:nvGrpSpPr>
        <p:grpSpPr>
          <a:xfrm>
            <a:off x="11704320" y="4928616"/>
            <a:ext cx="11667744" cy="5248656"/>
            <a:chOff x="11704320" y="5020056"/>
            <a:chExt cx="11667744" cy="5248656"/>
          </a:xfrm>
        </p:grpSpPr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F4DCB761-E015-9D79-DA4A-4ABA4CF4248E}"/>
                </a:ext>
              </a:extLst>
            </p:cNvPr>
            <p:cNvSpPr/>
            <p:nvPr/>
          </p:nvSpPr>
          <p:spPr>
            <a:xfrm>
              <a:off x="11704320" y="5020056"/>
              <a:ext cx="2889504" cy="1005840"/>
            </a:xfrm>
            <a:prstGeom prst="rect">
              <a:avLst/>
            </a:prstGeom>
            <a:solidFill>
              <a:srgbClr val="F2A7C3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0" name="Text 10">
              <a:extLst>
                <a:ext uri="{FF2B5EF4-FFF2-40B4-BE49-F238E27FC236}">
                  <a16:creationId xmlns:a16="http://schemas.microsoft.com/office/drawing/2014/main" id="{763773E6-0EB1-87D9-46A1-C838E575520D}"/>
                </a:ext>
              </a:extLst>
            </p:cNvPr>
            <p:cNvSpPr/>
            <p:nvPr/>
          </p:nvSpPr>
          <p:spPr>
            <a:xfrm>
              <a:off x="11704320" y="5020056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캐릭터</a:t>
              </a:r>
              <a:endParaRPr 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BC9B178A-087A-09E7-41D2-AA7677D40BC0}"/>
                </a:ext>
              </a:extLst>
            </p:cNvPr>
            <p:cNvSpPr/>
            <p:nvPr/>
          </p:nvSpPr>
          <p:spPr>
            <a:xfrm>
              <a:off x="14630400" y="5020056"/>
              <a:ext cx="2889504" cy="1005840"/>
            </a:xfrm>
            <a:prstGeom prst="rect">
              <a:avLst/>
            </a:prstGeom>
            <a:solidFill>
              <a:srgbClr val="F2A7C3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2" name="Text 12">
              <a:extLst>
                <a:ext uri="{FF2B5EF4-FFF2-40B4-BE49-F238E27FC236}">
                  <a16:creationId xmlns:a16="http://schemas.microsoft.com/office/drawing/2014/main" id="{115E3DE3-BCAD-9132-C5E8-E49447890776}"/>
                </a:ext>
              </a:extLst>
            </p:cNvPr>
            <p:cNvSpPr/>
            <p:nvPr/>
          </p:nvSpPr>
          <p:spPr>
            <a:xfrm>
              <a:off x="14630400" y="5020056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해피엔딩</a:t>
              </a:r>
              <a:endParaRPr 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FC177298-CCA9-FD0F-88DC-2562FAD8D928}"/>
                </a:ext>
              </a:extLst>
            </p:cNvPr>
            <p:cNvSpPr/>
            <p:nvPr/>
          </p:nvSpPr>
          <p:spPr>
            <a:xfrm>
              <a:off x="17556480" y="5020056"/>
              <a:ext cx="2889504" cy="1005840"/>
            </a:xfrm>
            <a:prstGeom prst="rect">
              <a:avLst/>
            </a:prstGeom>
            <a:solidFill>
              <a:srgbClr val="F2A7C3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4" name="Text 14">
              <a:extLst>
                <a:ext uri="{FF2B5EF4-FFF2-40B4-BE49-F238E27FC236}">
                  <a16:creationId xmlns:a16="http://schemas.microsoft.com/office/drawing/2014/main" id="{689461F2-D4D0-3375-FFC9-F9E9A79E1AF0}"/>
                </a:ext>
              </a:extLst>
            </p:cNvPr>
            <p:cNvSpPr/>
            <p:nvPr/>
          </p:nvSpPr>
          <p:spPr>
            <a:xfrm>
              <a:off x="17556480" y="5020056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노멀엔딩</a:t>
              </a:r>
              <a:endParaRPr 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10CCB257-55D0-8A79-05E1-3916DEF9CD47}"/>
                </a:ext>
              </a:extLst>
            </p:cNvPr>
            <p:cNvSpPr/>
            <p:nvPr/>
          </p:nvSpPr>
          <p:spPr>
            <a:xfrm>
              <a:off x="20482560" y="5020056"/>
              <a:ext cx="2889504" cy="1005840"/>
            </a:xfrm>
            <a:prstGeom prst="rect">
              <a:avLst/>
            </a:prstGeom>
            <a:solidFill>
              <a:srgbClr val="F2A7C3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6" name="Text 16">
              <a:extLst>
                <a:ext uri="{FF2B5EF4-FFF2-40B4-BE49-F238E27FC236}">
                  <a16:creationId xmlns:a16="http://schemas.microsoft.com/office/drawing/2014/main" id="{83FD0F60-4918-F39D-CD2E-ACD08342062F}"/>
                </a:ext>
              </a:extLst>
            </p:cNvPr>
            <p:cNvSpPr/>
            <p:nvPr/>
          </p:nvSpPr>
          <p:spPr>
            <a:xfrm>
              <a:off x="20482560" y="5020056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배드 진입</a:t>
              </a:r>
              <a:endParaRPr 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0925AFA2-B828-FA7D-50C7-5B87B3C17229}"/>
                </a:ext>
              </a:extLst>
            </p:cNvPr>
            <p:cNvSpPr/>
            <p:nvPr/>
          </p:nvSpPr>
          <p:spPr>
            <a:xfrm>
              <a:off x="1170432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8" name="Text 18">
              <a:extLst>
                <a:ext uri="{FF2B5EF4-FFF2-40B4-BE49-F238E27FC236}">
                  <a16:creationId xmlns:a16="http://schemas.microsoft.com/office/drawing/2014/main" id="{7B2F718E-B0C0-B0BD-F68E-2554E717012B}"/>
                </a:ext>
              </a:extLst>
            </p:cNvPr>
            <p:cNvSpPr/>
            <p:nvPr/>
          </p:nvSpPr>
          <p:spPr>
            <a:xfrm>
              <a:off x="1170432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하원준 본부장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02367E1A-F8D1-6D4A-B4EE-2ADE93E60A7D}"/>
                </a:ext>
              </a:extLst>
            </p:cNvPr>
            <p:cNvSpPr/>
            <p:nvPr/>
          </p:nvSpPr>
          <p:spPr>
            <a:xfrm>
              <a:off x="1463040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0" name="Text 20">
              <a:extLst>
                <a:ext uri="{FF2B5EF4-FFF2-40B4-BE49-F238E27FC236}">
                  <a16:creationId xmlns:a16="http://schemas.microsoft.com/office/drawing/2014/main" id="{59923A6C-BF2F-D446-7503-B384C3CFCB91}"/>
                </a:ext>
              </a:extLst>
            </p:cNvPr>
            <p:cNvSpPr/>
            <p:nvPr/>
          </p:nvSpPr>
          <p:spPr>
            <a:xfrm>
              <a:off x="1463040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100+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1" name="Shape 21">
              <a:extLst>
                <a:ext uri="{FF2B5EF4-FFF2-40B4-BE49-F238E27FC236}">
                  <a16:creationId xmlns:a16="http://schemas.microsoft.com/office/drawing/2014/main" id="{5930878D-66BC-FB01-FBCA-46C2DE278FFD}"/>
                </a:ext>
              </a:extLst>
            </p:cNvPr>
            <p:cNvSpPr/>
            <p:nvPr/>
          </p:nvSpPr>
          <p:spPr>
            <a:xfrm>
              <a:off x="1755648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2" name="Text 22">
              <a:extLst>
                <a:ext uri="{FF2B5EF4-FFF2-40B4-BE49-F238E27FC236}">
                  <a16:creationId xmlns:a16="http://schemas.microsoft.com/office/drawing/2014/main" id="{E5A66DF7-3F39-7F6F-1344-3A47A264ABDB}"/>
                </a:ext>
              </a:extLst>
            </p:cNvPr>
            <p:cNvSpPr/>
            <p:nvPr/>
          </p:nvSpPr>
          <p:spPr>
            <a:xfrm>
              <a:off x="1755648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~ 99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881BAF5C-9FC2-3A52-DD6B-5221478FF058}"/>
                </a:ext>
              </a:extLst>
            </p:cNvPr>
            <p:cNvSpPr/>
            <p:nvPr/>
          </p:nvSpPr>
          <p:spPr>
            <a:xfrm>
              <a:off x="2048256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4" name="Text 24">
              <a:extLst>
                <a:ext uri="{FF2B5EF4-FFF2-40B4-BE49-F238E27FC236}">
                  <a16:creationId xmlns:a16="http://schemas.microsoft.com/office/drawing/2014/main" id="{4FD675FC-B38A-98A6-AFFA-B5669580F630}"/>
                </a:ext>
              </a:extLst>
            </p:cNvPr>
            <p:cNvSpPr/>
            <p:nvPr/>
          </p:nvSpPr>
          <p:spPr>
            <a:xfrm>
              <a:off x="2048256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미만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48397EFF-8B07-0A97-BA4F-72FE2F49DD59}"/>
                </a:ext>
              </a:extLst>
            </p:cNvPr>
            <p:cNvSpPr/>
            <p:nvPr/>
          </p:nvSpPr>
          <p:spPr>
            <a:xfrm>
              <a:off x="11704320" y="7141464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6" name="Text 26">
              <a:extLst>
                <a:ext uri="{FF2B5EF4-FFF2-40B4-BE49-F238E27FC236}">
                  <a16:creationId xmlns:a16="http://schemas.microsoft.com/office/drawing/2014/main" id="{9AC9860C-E65E-AFB0-6E7E-D2A697437BA1}"/>
                </a:ext>
              </a:extLst>
            </p:cNvPr>
            <p:cNvSpPr/>
            <p:nvPr/>
          </p:nvSpPr>
          <p:spPr>
            <a:xfrm>
              <a:off x="11704320" y="7141464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류인환 선배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44B20E8E-A190-EC52-E5EB-959A75D9E6BE}"/>
                </a:ext>
              </a:extLst>
            </p:cNvPr>
            <p:cNvSpPr/>
            <p:nvPr/>
          </p:nvSpPr>
          <p:spPr>
            <a:xfrm>
              <a:off x="14630400" y="7141464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8" name="Text 28">
              <a:extLst>
                <a:ext uri="{FF2B5EF4-FFF2-40B4-BE49-F238E27FC236}">
                  <a16:creationId xmlns:a16="http://schemas.microsoft.com/office/drawing/2014/main" id="{813EAE5A-994D-46C6-3ECA-2BDF03BD0912}"/>
                </a:ext>
              </a:extLst>
            </p:cNvPr>
            <p:cNvSpPr/>
            <p:nvPr/>
          </p:nvSpPr>
          <p:spPr>
            <a:xfrm>
              <a:off x="14630400" y="7141464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100+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27CBFCEE-89E7-2F2C-C806-65D71A4D8833}"/>
                </a:ext>
              </a:extLst>
            </p:cNvPr>
            <p:cNvSpPr/>
            <p:nvPr/>
          </p:nvSpPr>
          <p:spPr>
            <a:xfrm>
              <a:off x="17556480" y="7141464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0" name="Text 30">
              <a:extLst>
                <a:ext uri="{FF2B5EF4-FFF2-40B4-BE49-F238E27FC236}">
                  <a16:creationId xmlns:a16="http://schemas.microsoft.com/office/drawing/2014/main" id="{3234C741-648B-5B65-5A16-B6883805D8D9}"/>
                </a:ext>
              </a:extLst>
            </p:cNvPr>
            <p:cNvSpPr/>
            <p:nvPr/>
          </p:nvSpPr>
          <p:spPr>
            <a:xfrm>
              <a:off x="17556480" y="7141464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~ 99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1" name="Shape 31">
              <a:extLst>
                <a:ext uri="{FF2B5EF4-FFF2-40B4-BE49-F238E27FC236}">
                  <a16:creationId xmlns:a16="http://schemas.microsoft.com/office/drawing/2014/main" id="{9563E8C3-50D4-72D1-8D93-4A531648516F}"/>
                </a:ext>
              </a:extLst>
            </p:cNvPr>
            <p:cNvSpPr/>
            <p:nvPr/>
          </p:nvSpPr>
          <p:spPr>
            <a:xfrm>
              <a:off x="20482560" y="7141464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2" name="Text 32">
              <a:extLst>
                <a:ext uri="{FF2B5EF4-FFF2-40B4-BE49-F238E27FC236}">
                  <a16:creationId xmlns:a16="http://schemas.microsoft.com/office/drawing/2014/main" id="{F6F66EE3-719D-FAFC-151E-49EF2E7860C4}"/>
                </a:ext>
              </a:extLst>
            </p:cNvPr>
            <p:cNvSpPr/>
            <p:nvPr/>
          </p:nvSpPr>
          <p:spPr>
            <a:xfrm>
              <a:off x="20482560" y="7141464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미만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3" name="Shape 33">
              <a:extLst>
                <a:ext uri="{FF2B5EF4-FFF2-40B4-BE49-F238E27FC236}">
                  <a16:creationId xmlns:a16="http://schemas.microsoft.com/office/drawing/2014/main" id="{098F9644-3206-96E7-9C4B-7D6A5B998388}"/>
                </a:ext>
              </a:extLst>
            </p:cNvPr>
            <p:cNvSpPr/>
            <p:nvPr/>
          </p:nvSpPr>
          <p:spPr>
            <a:xfrm>
              <a:off x="1170432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4" name="Text 34">
              <a:extLst>
                <a:ext uri="{FF2B5EF4-FFF2-40B4-BE49-F238E27FC236}">
                  <a16:creationId xmlns:a16="http://schemas.microsoft.com/office/drawing/2014/main" id="{822E56FB-1541-6C1A-922A-10339C4A6C66}"/>
                </a:ext>
              </a:extLst>
            </p:cNvPr>
            <p:cNvSpPr/>
            <p:nvPr/>
          </p:nvSpPr>
          <p:spPr>
            <a:xfrm>
              <a:off x="1170432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김용주 동기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A8D35217-74F6-BCDE-8545-9E5A8C2D2066}"/>
                </a:ext>
              </a:extLst>
            </p:cNvPr>
            <p:cNvSpPr/>
            <p:nvPr/>
          </p:nvSpPr>
          <p:spPr>
            <a:xfrm>
              <a:off x="1463040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6" name="Text 36">
              <a:extLst>
                <a:ext uri="{FF2B5EF4-FFF2-40B4-BE49-F238E27FC236}">
                  <a16:creationId xmlns:a16="http://schemas.microsoft.com/office/drawing/2014/main" id="{686A34B5-C647-EF03-94A8-6B5E4DAE415E}"/>
                </a:ext>
              </a:extLst>
            </p:cNvPr>
            <p:cNvSpPr/>
            <p:nvPr/>
          </p:nvSpPr>
          <p:spPr>
            <a:xfrm>
              <a:off x="1463040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100+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0FAD59F7-9E1E-77F5-082C-74772DD760F4}"/>
                </a:ext>
              </a:extLst>
            </p:cNvPr>
            <p:cNvSpPr/>
            <p:nvPr/>
          </p:nvSpPr>
          <p:spPr>
            <a:xfrm>
              <a:off x="1755648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8" name="Text 38">
              <a:extLst>
                <a:ext uri="{FF2B5EF4-FFF2-40B4-BE49-F238E27FC236}">
                  <a16:creationId xmlns:a16="http://schemas.microsoft.com/office/drawing/2014/main" id="{74B09D5D-BB6F-7061-C380-2BBD15424094}"/>
                </a:ext>
              </a:extLst>
            </p:cNvPr>
            <p:cNvSpPr/>
            <p:nvPr/>
          </p:nvSpPr>
          <p:spPr>
            <a:xfrm>
              <a:off x="1755648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~ 99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9" name="Shape 39">
              <a:extLst>
                <a:ext uri="{FF2B5EF4-FFF2-40B4-BE49-F238E27FC236}">
                  <a16:creationId xmlns:a16="http://schemas.microsoft.com/office/drawing/2014/main" id="{48B13E49-1BDF-3A26-107D-E7CC024A76CD}"/>
                </a:ext>
              </a:extLst>
            </p:cNvPr>
            <p:cNvSpPr/>
            <p:nvPr/>
          </p:nvSpPr>
          <p:spPr>
            <a:xfrm>
              <a:off x="2048256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0" name="Text 40">
              <a:extLst>
                <a:ext uri="{FF2B5EF4-FFF2-40B4-BE49-F238E27FC236}">
                  <a16:creationId xmlns:a16="http://schemas.microsoft.com/office/drawing/2014/main" id="{FB88A699-D918-AA0E-C3E8-4E4D70515A63}"/>
                </a:ext>
              </a:extLst>
            </p:cNvPr>
            <p:cNvSpPr/>
            <p:nvPr/>
          </p:nvSpPr>
          <p:spPr>
            <a:xfrm>
              <a:off x="2048256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미만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1" name="Shape 41">
              <a:extLst>
                <a:ext uri="{FF2B5EF4-FFF2-40B4-BE49-F238E27FC236}">
                  <a16:creationId xmlns:a16="http://schemas.microsoft.com/office/drawing/2014/main" id="{1452338C-2E5D-0F4A-4018-2459F81B4B81}"/>
                </a:ext>
              </a:extLst>
            </p:cNvPr>
            <p:cNvSpPr/>
            <p:nvPr/>
          </p:nvSpPr>
          <p:spPr>
            <a:xfrm>
              <a:off x="11704320" y="9262872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2" name="Text 42">
              <a:extLst>
                <a:ext uri="{FF2B5EF4-FFF2-40B4-BE49-F238E27FC236}">
                  <a16:creationId xmlns:a16="http://schemas.microsoft.com/office/drawing/2014/main" id="{8167F274-452B-2C02-E48E-1C6FC8A845AB}"/>
                </a:ext>
              </a:extLst>
            </p:cNvPr>
            <p:cNvSpPr/>
            <p:nvPr/>
          </p:nvSpPr>
          <p:spPr>
            <a:xfrm>
              <a:off x="11704320" y="9262872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김도경 인턴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3" name="Shape 43">
              <a:extLst>
                <a:ext uri="{FF2B5EF4-FFF2-40B4-BE49-F238E27FC236}">
                  <a16:creationId xmlns:a16="http://schemas.microsoft.com/office/drawing/2014/main" id="{90B27F43-37FB-B547-50B5-A840C8C9B6AE}"/>
                </a:ext>
              </a:extLst>
            </p:cNvPr>
            <p:cNvSpPr/>
            <p:nvPr/>
          </p:nvSpPr>
          <p:spPr>
            <a:xfrm>
              <a:off x="14630400" y="9262872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4" name="Text 44">
              <a:extLst>
                <a:ext uri="{FF2B5EF4-FFF2-40B4-BE49-F238E27FC236}">
                  <a16:creationId xmlns:a16="http://schemas.microsoft.com/office/drawing/2014/main" id="{B209E162-1424-9749-8EB6-050CF548BEAA}"/>
                </a:ext>
              </a:extLst>
            </p:cNvPr>
            <p:cNvSpPr/>
            <p:nvPr/>
          </p:nvSpPr>
          <p:spPr>
            <a:xfrm>
              <a:off x="14630400" y="9262872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100+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5" name="Shape 45">
              <a:extLst>
                <a:ext uri="{FF2B5EF4-FFF2-40B4-BE49-F238E27FC236}">
                  <a16:creationId xmlns:a16="http://schemas.microsoft.com/office/drawing/2014/main" id="{C15E758D-4113-0E1D-04A9-F5C989DAD7FA}"/>
                </a:ext>
              </a:extLst>
            </p:cNvPr>
            <p:cNvSpPr/>
            <p:nvPr/>
          </p:nvSpPr>
          <p:spPr>
            <a:xfrm>
              <a:off x="17556480" y="9262872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6" name="Text 46">
              <a:extLst>
                <a:ext uri="{FF2B5EF4-FFF2-40B4-BE49-F238E27FC236}">
                  <a16:creationId xmlns:a16="http://schemas.microsoft.com/office/drawing/2014/main" id="{73B6BD7C-64BA-CDB4-A4E0-D576FA3B7F03}"/>
                </a:ext>
              </a:extLst>
            </p:cNvPr>
            <p:cNvSpPr/>
            <p:nvPr/>
          </p:nvSpPr>
          <p:spPr>
            <a:xfrm>
              <a:off x="17556480" y="9262872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~ 99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7" name="Shape 47">
              <a:extLst>
                <a:ext uri="{FF2B5EF4-FFF2-40B4-BE49-F238E27FC236}">
                  <a16:creationId xmlns:a16="http://schemas.microsoft.com/office/drawing/2014/main" id="{75E2DF88-37A5-B6C8-19B3-25349D09FF04}"/>
                </a:ext>
              </a:extLst>
            </p:cNvPr>
            <p:cNvSpPr/>
            <p:nvPr/>
          </p:nvSpPr>
          <p:spPr>
            <a:xfrm>
              <a:off x="20482560" y="9262872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8" name="Text 48">
              <a:extLst>
                <a:ext uri="{FF2B5EF4-FFF2-40B4-BE49-F238E27FC236}">
                  <a16:creationId xmlns:a16="http://schemas.microsoft.com/office/drawing/2014/main" id="{1FAC1A1B-54F5-903F-80F2-B61794DEB861}"/>
                </a:ext>
              </a:extLst>
            </p:cNvPr>
            <p:cNvSpPr/>
            <p:nvPr/>
          </p:nvSpPr>
          <p:spPr>
            <a:xfrm>
              <a:off x="20482560" y="9262872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미만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69" name="Text 49">
            <a:extLst>
              <a:ext uri="{FF2B5EF4-FFF2-40B4-BE49-F238E27FC236}">
                <a16:creationId xmlns:a16="http://schemas.microsoft.com/office/drawing/2014/main" id="{7C5E7833-743D-934C-2C44-1BFC25CC93B0}"/>
              </a:ext>
            </a:extLst>
          </p:cNvPr>
          <p:cNvSpPr/>
          <p:nvPr/>
        </p:nvSpPr>
        <p:spPr>
          <a:xfrm>
            <a:off x="11727766" y="10470388"/>
            <a:ext cx="1188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i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최고 선택지 예시: "그럼 제 일정에도 본부장님 넣어둘게요."  →  호감도 +28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571094-EC0B-5DA5-7E87-DD8833FD8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59B09C1-EA4F-6C44-EBA2-35E1E290A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5105400"/>
            <a:ext cx="5702300" cy="9525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BA9336D4-8D62-2E60-586F-CC227DCD6C09}"/>
              </a:ext>
            </a:extLst>
          </p:cNvPr>
          <p:cNvSpPr txBox="1"/>
          <p:nvPr/>
        </p:nvSpPr>
        <p:spPr>
          <a:xfrm>
            <a:off x="4902200" y="6921500"/>
            <a:ext cx="14592300" cy="1422400"/>
          </a:xfrm>
          <a:prstGeom prst="rect">
            <a:avLst/>
          </a:prstGeom>
        </p:spPr>
        <p:txBody>
          <a:bodyPr lIns="0" tIns="86360" rIns="0" bIns="0" rtlCol="0" anchor="t"/>
          <a:lstStyle/>
          <a:p>
            <a:pPr algn="ctr"/>
            <a:r>
              <a:rPr lang="en-US" altLang="ko-KR" sz="8000" b="1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DataBase</a:t>
            </a:r>
            <a:r>
              <a:rPr lang="en-US" altLang="ko-KR" sz="80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8000" b="1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연동</a:t>
            </a:r>
            <a:endParaRPr lang="en-US" altLang="ko-KR" sz="8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012F69C-91CD-B3AE-BAAB-E32E4A574A38}"/>
              </a:ext>
            </a:extLst>
          </p:cNvPr>
          <p:cNvSpPr txBox="1"/>
          <p:nvPr/>
        </p:nvSpPr>
        <p:spPr>
          <a:xfrm>
            <a:off x="9842500" y="5270500"/>
            <a:ext cx="4699000" cy="635000"/>
          </a:xfrm>
          <a:prstGeom prst="rect">
            <a:avLst/>
          </a:prstGeom>
        </p:spPr>
        <p:txBody>
          <a:bodyPr lIns="0" tIns="4572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600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03. </a:t>
            </a:r>
            <a:r>
              <a:rPr lang="ko-KR" altLang="en-US" sz="3600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기술적 차별성</a:t>
            </a:r>
            <a:endParaRPr lang="en-US" sz="3600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7E42548-6773-89D6-1212-4E0D0812F804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69385CF5-0B47-368E-C330-A2D31BF23CA3}"/>
              </a:ext>
            </a:extLst>
          </p:cNvPr>
          <p:cNvSpPr txBox="1"/>
          <p:nvPr/>
        </p:nvSpPr>
        <p:spPr>
          <a:xfrm>
            <a:off x="533400" y="571500"/>
            <a:ext cx="3225800" cy="4318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2400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Love_Ajin</a:t>
            </a:r>
            <a:endParaRPr lang="en-US" altLang="ko-KR" sz="2400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2632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0E792A2A-3786-467B-F7BB-1BBCB0FA8611}"/>
              </a:ext>
            </a:extLst>
          </p:cNvPr>
          <p:cNvSpPr/>
          <p:nvPr/>
        </p:nvSpPr>
        <p:spPr>
          <a:xfrm>
            <a:off x="1005840" y="877824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 아키텍처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FB512EA9-2577-F439-3503-5C0C40251EB5}"/>
              </a:ext>
            </a:extLst>
          </p:cNvPr>
          <p:cNvSpPr/>
          <p:nvPr/>
        </p:nvSpPr>
        <p:spPr>
          <a:xfrm>
            <a:off x="1005840" y="2103120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Ren'Py ↔ Flask REST API ↔ MariaDB 3-Layer 구조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EACD270-7448-A8DA-A54D-A2D773170ED1}"/>
              </a:ext>
            </a:extLst>
          </p:cNvPr>
          <p:cNvGrpSpPr/>
          <p:nvPr/>
        </p:nvGrpSpPr>
        <p:grpSpPr>
          <a:xfrm>
            <a:off x="1005840" y="3145536"/>
            <a:ext cx="6480000" cy="4754880"/>
            <a:chOff x="1005840" y="3145536"/>
            <a:chExt cx="7315200" cy="4754880"/>
          </a:xfrm>
        </p:grpSpPr>
        <p:sp>
          <p:nvSpPr>
            <p:cNvPr id="29" name="Shape 5">
              <a:extLst>
                <a:ext uri="{FF2B5EF4-FFF2-40B4-BE49-F238E27FC236}">
                  <a16:creationId xmlns:a16="http://schemas.microsoft.com/office/drawing/2014/main" id="{EE028725-2F3A-2E59-BA0A-BE26437FEC51}"/>
                </a:ext>
              </a:extLst>
            </p:cNvPr>
            <p:cNvSpPr/>
            <p:nvPr/>
          </p:nvSpPr>
          <p:spPr>
            <a:xfrm>
              <a:off x="1005840" y="3145536"/>
              <a:ext cx="7315200" cy="47548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DCEDE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0" name="Shape 6">
              <a:extLst>
                <a:ext uri="{FF2B5EF4-FFF2-40B4-BE49-F238E27FC236}">
                  <a16:creationId xmlns:a16="http://schemas.microsoft.com/office/drawing/2014/main" id="{DC6D633C-B1BE-B927-833C-C702E6A1A410}"/>
                </a:ext>
              </a:extLst>
            </p:cNvPr>
            <p:cNvSpPr/>
            <p:nvPr/>
          </p:nvSpPr>
          <p:spPr>
            <a:xfrm>
              <a:off x="1005840" y="3145536"/>
              <a:ext cx="7315200" cy="1243584"/>
            </a:xfrm>
            <a:prstGeom prst="rect">
              <a:avLst/>
            </a:prstGeom>
            <a:solidFill>
              <a:srgbClr val="B3B3FF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1" name="Text 7">
              <a:extLst>
                <a:ext uri="{FF2B5EF4-FFF2-40B4-BE49-F238E27FC236}">
                  <a16:creationId xmlns:a16="http://schemas.microsoft.com/office/drawing/2014/main" id="{2C11903B-D35E-956C-3D9E-F88B81F99F10}"/>
                </a:ext>
              </a:extLst>
            </p:cNvPr>
            <p:cNvSpPr/>
            <p:nvPr/>
          </p:nvSpPr>
          <p:spPr>
            <a:xfrm>
              <a:off x="1280160" y="3145536"/>
              <a:ext cx="6766560" cy="1243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b="1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Ren'Py 게임 클라이언트</a:t>
              </a:r>
              <a:endParaRPr 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2" name="Text 8">
              <a:extLst>
                <a:ext uri="{FF2B5EF4-FFF2-40B4-BE49-F238E27FC236}">
                  <a16:creationId xmlns:a16="http://schemas.microsoft.com/office/drawing/2014/main" id="{E3C7D5BB-6F8A-C438-AC9F-7DC9A2E6DDDD}"/>
                </a:ext>
              </a:extLst>
            </p:cNvPr>
            <p:cNvSpPr/>
            <p:nvPr/>
          </p:nvSpPr>
          <p:spPr>
            <a:xfrm>
              <a:off x="1371600" y="4535424"/>
              <a:ext cx="6583680" cy="2926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36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api_post() / api_get()</a:t>
              </a:r>
              <a:endParaRPr 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sz="36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urllib.request 폴백 처리</a:t>
              </a:r>
              <a:endParaRPr 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34" name="Text 10">
            <a:extLst>
              <a:ext uri="{FF2B5EF4-FFF2-40B4-BE49-F238E27FC236}">
                <a16:creationId xmlns:a16="http://schemas.microsoft.com/office/drawing/2014/main" id="{141CE11C-4DC4-49DC-E33F-9AC373B6C6FB}"/>
              </a:ext>
            </a:extLst>
          </p:cNvPr>
          <p:cNvSpPr/>
          <p:nvPr/>
        </p:nvSpPr>
        <p:spPr>
          <a:xfrm>
            <a:off x="7485840" y="5120640"/>
            <a:ext cx="14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⇄</a:t>
            </a:r>
            <a:endParaRPr lang="en-US" sz="4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E360A2F-5B8F-1D31-C112-8E2F6951FF29}"/>
              </a:ext>
            </a:extLst>
          </p:cNvPr>
          <p:cNvGrpSpPr/>
          <p:nvPr/>
        </p:nvGrpSpPr>
        <p:grpSpPr>
          <a:xfrm>
            <a:off x="8952000" y="3145536"/>
            <a:ext cx="6480000" cy="4754880"/>
            <a:chOff x="8723376" y="3145536"/>
            <a:chExt cx="7315200" cy="4754880"/>
          </a:xfrm>
        </p:grpSpPr>
        <p:sp>
          <p:nvSpPr>
            <p:cNvPr id="35" name="Shape 11">
              <a:extLst>
                <a:ext uri="{FF2B5EF4-FFF2-40B4-BE49-F238E27FC236}">
                  <a16:creationId xmlns:a16="http://schemas.microsoft.com/office/drawing/2014/main" id="{9E975162-72D7-4E58-6D54-E779E7655C7C}"/>
                </a:ext>
              </a:extLst>
            </p:cNvPr>
            <p:cNvSpPr/>
            <p:nvPr/>
          </p:nvSpPr>
          <p:spPr>
            <a:xfrm>
              <a:off x="8723376" y="3145536"/>
              <a:ext cx="7315200" cy="47548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DCEDE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6" name="Shape 12">
              <a:extLst>
                <a:ext uri="{FF2B5EF4-FFF2-40B4-BE49-F238E27FC236}">
                  <a16:creationId xmlns:a16="http://schemas.microsoft.com/office/drawing/2014/main" id="{57E73E34-8496-C309-33A3-94386D44EB5D}"/>
                </a:ext>
              </a:extLst>
            </p:cNvPr>
            <p:cNvSpPr/>
            <p:nvPr/>
          </p:nvSpPr>
          <p:spPr>
            <a:xfrm>
              <a:off x="8723376" y="3145536"/>
              <a:ext cx="7315200" cy="1243584"/>
            </a:xfrm>
            <a:prstGeom prst="rect">
              <a:avLst/>
            </a:prstGeom>
            <a:solidFill>
              <a:srgbClr val="F2A7C3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7" name="Text 13">
              <a:extLst>
                <a:ext uri="{FF2B5EF4-FFF2-40B4-BE49-F238E27FC236}">
                  <a16:creationId xmlns:a16="http://schemas.microsoft.com/office/drawing/2014/main" id="{7600A45A-D2C4-A3E6-E545-1AA98D6F6502}"/>
                </a:ext>
              </a:extLst>
            </p:cNvPr>
            <p:cNvSpPr/>
            <p:nvPr/>
          </p:nvSpPr>
          <p:spPr>
            <a:xfrm>
              <a:off x="8997696" y="3145536"/>
              <a:ext cx="6766560" cy="1243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b="1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Flask REST API 서버</a:t>
              </a:r>
              <a:endParaRPr 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8" name="Text 14">
              <a:extLst>
                <a:ext uri="{FF2B5EF4-FFF2-40B4-BE49-F238E27FC236}">
                  <a16:creationId xmlns:a16="http://schemas.microsoft.com/office/drawing/2014/main" id="{A258E7D9-04F8-2AD6-A0CE-D070F04789A2}"/>
                </a:ext>
              </a:extLst>
            </p:cNvPr>
            <p:cNvSpPr/>
            <p:nvPr/>
          </p:nvSpPr>
          <p:spPr>
            <a:xfrm>
              <a:off x="9089136" y="4535424"/>
              <a:ext cx="6583680" cy="2926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36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/api/save_day</a:t>
              </a:r>
              <a:endParaRPr 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sz="36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/api/save_ending</a:t>
              </a:r>
              <a:endParaRPr 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sz="36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/api/load/{save_id}</a:t>
              </a:r>
              <a:endParaRPr 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0" name="Text 16">
            <a:extLst>
              <a:ext uri="{FF2B5EF4-FFF2-40B4-BE49-F238E27FC236}">
                <a16:creationId xmlns:a16="http://schemas.microsoft.com/office/drawing/2014/main" id="{0C11DB8F-051D-BC8C-5DF0-90E4BD0E4315}"/>
              </a:ext>
            </a:extLst>
          </p:cNvPr>
          <p:cNvSpPr/>
          <p:nvPr/>
        </p:nvSpPr>
        <p:spPr>
          <a:xfrm>
            <a:off x="15432000" y="5120640"/>
            <a:ext cx="140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⇄</a:t>
            </a:r>
            <a:endParaRPr lang="en-US" sz="4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31591BE3-BDA2-E6D3-E252-DB9D01DBD4C5}"/>
              </a:ext>
            </a:extLst>
          </p:cNvPr>
          <p:cNvSpPr/>
          <p:nvPr/>
        </p:nvSpPr>
        <p:spPr>
          <a:xfrm>
            <a:off x="1005840" y="8321040"/>
            <a:ext cx="9144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 API 엔드포인트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0F92D008-E2CC-87BB-1D0D-B582D5C13678}"/>
              </a:ext>
            </a:extLst>
          </p:cNvPr>
          <p:cNvSpPr/>
          <p:nvPr/>
        </p:nvSpPr>
        <p:spPr>
          <a:xfrm>
            <a:off x="1005840" y="9107424"/>
            <a:ext cx="7955280" cy="877824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6FEDD87D-06F4-0FDB-5E7A-B9FBD5F857B3}"/>
              </a:ext>
            </a:extLst>
          </p:cNvPr>
          <p:cNvSpPr/>
          <p:nvPr/>
        </p:nvSpPr>
        <p:spPr>
          <a:xfrm>
            <a:off x="1188720" y="9180576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POST /api/save_day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4482E015-2270-739F-1221-D45AED851672}"/>
              </a:ext>
            </a:extLst>
          </p:cNvPr>
          <p:cNvSpPr/>
          <p:nvPr/>
        </p:nvSpPr>
        <p:spPr>
          <a:xfrm>
            <a:off x="9144000" y="9107424"/>
            <a:ext cx="14173200" cy="877824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A905E93C-E452-96ED-E343-F7B98CB8C0DA}"/>
              </a:ext>
            </a:extLst>
          </p:cNvPr>
          <p:cNvSpPr/>
          <p:nvPr/>
        </p:nvSpPr>
        <p:spPr>
          <a:xfrm>
            <a:off x="9326880" y="9180576"/>
            <a:ext cx="1380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일일 스탯·호감도·행동 로그 저장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6091BE54-DF09-9352-8C81-002A7B786BC1}"/>
              </a:ext>
            </a:extLst>
          </p:cNvPr>
          <p:cNvSpPr/>
          <p:nvPr/>
        </p:nvSpPr>
        <p:spPr>
          <a:xfrm>
            <a:off x="1005840" y="10058400"/>
            <a:ext cx="7955280" cy="877824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 27">
            <a:extLst>
              <a:ext uri="{FF2B5EF4-FFF2-40B4-BE49-F238E27FC236}">
                <a16:creationId xmlns:a16="http://schemas.microsoft.com/office/drawing/2014/main" id="{CF48E049-AFFE-1C62-8A71-C4CC4C711A54}"/>
              </a:ext>
            </a:extLst>
          </p:cNvPr>
          <p:cNvSpPr/>
          <p:nvPr/>
        </p:nvSpPr>
        <p:spPr>
          <a:xfrm>
            <a:off x="1188720" y="10131552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POST /api/save_ending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Shape 28">
            <a:extLst>
              <a:ext uri="{FF2B5EF4-FFF2-40B4-BE49-F238E27FC236}">
                <a16:creationId xmlns:a16="http://schemas.microsoft.com/office/drawing/2014/main" id="{F68C111C-92D5-99D3-07C1-03F4C570C81E}"/>
              </a:ext>
            </a:extLst>
          </p:cNvPr>
          <p:cNvSpPr/>
          <p:nvPr/>
        </p:nvSpPr>
        <p:spPr>
          <a:xfrm>
            <a:off x="9144000" y="10058400"/>
            <a:ext cx="14173200" cy="877824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E807A524-1231-90DF-5363-C30299EB4E57}"/>
              </a:ext>
            </a:extLst>
          </p:cNvPr>
          <p:cNvSpPr/>
          <p:nvPr/>
        </p:nvSpPr>
        <p:spPr>
          <a:xfrm>
            <a:off x="9326880" y="10131552"/>
            <a:ext cx="1380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엔딩 결과 저장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Shape 30">
            <a:extLst>
              <a:ext uri="{FF2B5EF4-FFF2-40B4-BE49-F238E27FC236}">
                <a16:creationId xmlns:a16="http://schemas.microsoft.com/office/drawing/2014/main" id="{648264B3-6A7B-0A78-C113-A143493A1670}"/>
              </a:ext>
            </a:extLst>
          </p:cNvPr>
          <p:cNvSpPr/>
          <p:nvPr/>
        </p:nvSpPr>
        <p:spPr>
          <a:xfrm>
            <a:off x="1005840" y="11009376"/>
            <a:ext cx="7946160" cy="877824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14B96832-68A1-B845-8C14-9BD24AE0A045}"/>
              </a:ext>
            </a:extLst>
          </p:cNvPr>
          <p:cNvSpPr/>
          <p:nvPr/>
        </p:nvSpPr>
        <p:spPr>
          <a:xfrm>
            <a:off x="1188720" y="11082528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GET  /api/load/{id}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Shape 32">
            <a:extLst>
              <a:ext uri="{FF2B5EF4-FFF2-40B4-BE49-F238E27FC236}">
                <a16:creationId xmlns:a16="http://schemas.microsoft.com/office/drawing/2014/main" id="{DCEC8BF2-D8E7-9936-2927-0BF44DF593DC}"/>
              </a:ext>
            </a:extLst>
          </p:cNvPr>
          <p:cNvSpPr/>
          <p:nvPr/>
        </p:nvSpPr>
        <p:spPr>
          <a:xfrm>
            <a:off x="9144000" y="11009376"/>
            <a:ext cx="14173200" cy="877824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503AD1E0-61D1-7023-9ECC-71F03CA8AF9F}"/>
              </a:ext>
            </a:extLst>
          </p:cNvPr>
          <p:cNvSpPr/>
          <p:nvPr/>
        </p:nvSpPr>
        <p:spPr>
          <a:xfrm>
            <a:off x="9326880" y="11082528"/>
            <a:ext cx="1380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세이브 데이터 불러오기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22A1E87-6EA5-F6FE-3072-FBA4E49E08E3}"/>
              </a:ext>
            </a:extLst>
          </p:cNvPr>
          <p:cNvGrpSpPr/>
          <p:nvPr/>
        </p:nvGrpSpPr>
        <p:grpSpPr>
          <a:xfrm>
            <a:off x="16837200" y="3126971"/>
            <a:ext cx="6480000" cy="4754880"/>
            <a:chOff x="16587216" y="3145536"/>
            <a:chExt cx="7315200" cy="4754880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E8FB3D2-E465-3ABB-E07A-05E0C0678ED8}"/>
                </a:ext>
              </a:extLst>
            </p:cNvPr>
            <p:cNvGrpSpPr/>
            <p:nvPr/>
          </p:nvGrpSpPr>
          <p:grpSpPr>
            <a:xfrm>
              <a:off x="16587216" y="3145536"/>
              <a:ext cx="7315200" cy="4754880"/>
              <a:chOff x="1097280" y="3785616"/>
              <a:chExt cx="7315200" cy="4754880"/>
            </a:xfrm>
          </p:grpSpPr>
          <p:sp>
            <p:nvSpPr>
              <p:cNvPr id="6" name="Shape 11">
                <a:extLst>
                  <a:ext uri="{FF2B5EF4-FFF2-40B4-BE49-F238E27FC236}">
                    <a16:creationId xmlns:a16="http://schemas.microsoft.com/office/drawing/2014/main" id="{56FBB049-10FE-1741-01B2-DAF01CF01EF6}"/>
                  </a:ext>
                </a:extLst>
              </p:cNvPr>
              <p:cNvSpPr/>
              <p:nvPr/>
            </p:nvSpPr>
            <p:spPr>
              <a:xfrm>
                <a:off x="1097280" y="3785616"/>
                <a:ext cx="7315200" cy="47548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DCEDE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ko-KR" altLang="en-US" sz="360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7" name="Shape 12">
                <a:extLst>
                  <a:ext uri="{FF2B5EF4-FFF2-40B4-BE49-F238E27FC236}">
                    <a16:creationId xmlns:a16="http://schemas.microsoft.com/office/drawing/2014/main" id="{A6BF0BC4-A490-E89F-46C3-316DEA511613}"/>
                  </a:ext>
                </a:extLst>
              </p:cNvPr>
              <p:cNvSpPr/>
              <p:nvPr/>
            </p:nvSpPr>
            <p:spPr>
              <a:xfrm>
                <a:off x="1097280" y="3785616"/>
                <a:ext cx="7315200" cy="1243584"/>
              </a:xfrm>
              <a:prstGeom prst="rect">
                <a:avLst/>
              </a:prstGeom>
              <a:solidFill>
                <a:srgbClr val="F2A7C3"/>
              </a:solidFill>
              <a:ln w="12700">
                <a:solidFill>
                  <a:srgbClr val="EDCEDE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360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41" name="Text 19">
              <a:extLst>
                <a:ext uri="{FF2B5EF4-FFF2-40B4-BE49-F238E27FC236}">
                  <a16:creationId xmlns:a16="http://schemas.microsoft.com/office/drawing/2014/main" id="{F55BF1F8-1C24-BCD3-E14E-D09BEE926D9F}"/>
                </a:ext>
              </a:extLst>
            </p:cNvPr>
            <p:cNvSpPr/>
            <p:nvPr/>
          </p:nvSpPr>
          <p:spPr>
            <a:xfrm>
              <a:off x="16715232" y="3145536"/>
              <a:ext cx="6766560" cy="1243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b="1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MariaDB 영구 저장소</a:t>
              </a:r>
              <a:endParaRPr 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2" name="Text 20">
              <a:extLst>
                <a:ext uri="{FF2B5EF4-FFF2-40B4-BE49-F238E27FC236}">
                  <a16:creationId xmlns:a16="http://schemas.microsoft.com/office/drawing/2014/main" id="{C75D913A-242E-692A-527C-E20B25681856}"/>
                </a:ext>
              </a:extLst>
            </p:cNvPr>
            <p:cNvSpPr/>
            <p:nvPr/>
          </p:nvSpPr>
          <p:spPr>
            <a:xfrm>
              <a:off x="16806672" y="4535424"/>
              <a:ext cx="6583680" cy="2926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36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save_data 테이블</a:t>
              </a:r>
              <a:endParaRPr 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sz="36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ending_log 테이블</a:t>
              </a:r>
              <a:endParaRPr 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E9E59-0408-0C24-A4D5-A1F7E6A8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3B67CFE1-EBB2-B164-46C6-FA7D6A5B42A8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6C97A16C-ADD0-70E9-024D-45755918D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5105400"/>
            <a:ext cx="5715000" cy="952500"/>
          </a:xfrm>
          <a:prstGeom prst="rect">
            <a:avLst/>
          </a:prstGeom>
        </p:spPr>
      </p:pic>
      <p:sp>
        <p:nvSpPr>
          <p:cNvPr id="11" name="TextBox 4">
            <a:extLst>
              <a:ext uri="{FF2B5EF4-FFF2-40B4-BE49-F238E27FC236}">
                <a16:creationId xmlns:a16="http://schemas.microsoft.com/office/drawing/2014/main" id="{173D1135-F728-E120-B5A8-6056712380F8}"/>
              </a:ext>
            </a:extLst>
          </p:cNvPr>
          <p:cNvSpPr txBox="1"/>
          <p:nvPr/>
        </p:nvSpPr>
        <p:spPr>
          <a:xfrm>
            <a:off x="4902200" y="6921500"/>
            <a:ext cx="14592300" cy="1422400"/>
          </a:xfrm>
          <a:prstGeom prst="rect">
            <a:avLst/>
          </a:prstGeom>
        </p:spPr>
        <p:txBody>
          <a:bodyPr lIns="0" tIns="86360" rIns="0" bIns="0" rtlCol="0" anchor="t"/>
          <a:lstStyle/>
          <a:p>
            <a:pPr lvl="0" algn="ctr">
              <a:lnSpc>
                <a:spcPct val="102089"/>
              </a:lnSpc>
            </a:pPr>
            <a:endParaRPr lang="ko-KR" altLang="en-US" sz="3200" i="0" u="none" strike="noStrike" spc="-2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C6AD9E59-AA10-6536-3134-73808328E200}"/>
              </a:ext>
            </a:extLst>
          </p:cNvPr>
          <p:cNvSpPr txBox="1"/>
          <p:nvPr/>
        </p:nvSpPr>
        <p:spPr>
          <a:xfrm>
            <a:off x="9842500" y="5270500"/>
            <a:ext cx="4699000" cy="635000"/>
          </a:xfrm>
          <a:prstGeom prst="rect">
            <a:avLst/>
          </a:prstGeom>
        </p:spPr>
        <p:txBody>
          <a:bodyPr lIns="0" tIns="45720" rIns="0" bIns="0" rtlCol="0" anchor="t"/>
          <a:lstStyle/>
          <a:p>
            <a:pPr algn="ctr"/>
            <a:r>
              <a:rPr lang="en-US" altLang="ko-KR" sz="3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04.프로젝트 </a:t>
            </a:r>
            <a:r>
              <a:rPr lang="en-US" altLang="ko-KR" sz="3600" b="1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</a:t>
            </a:r>
            <a:r>
              <a:rPr lang="en-US" altLang="ko-KR" sz="3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 </a:t>
            </a:r>
            <a:r>
              <a:rPr lang="en-US" altLang="ko-KR" sz="3600" b="1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비전</a:t>
            </a:r>
            <a:endParaRPr lang="en-US" altLang="ko-KR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6211C71B-6ED0-C48C-F783-65CF1FABB1D3}"/>
              </a:ext>
            </a:extLst>
          </p:cNvPr>
          <p:cNvSpPr txBox="1"/>
          <p:nvPr/>
        </p:nvSpPr>
        <p:spPr>
          <a:xfrm>
            <a:off x="5054600" y="7073900"/>
            <a:ext cx="14592300" cy="1422400"/>
          </a:xfrm>
          <a:prstGeom prst="rect">
            <a:avLst/>
          </a:prstGeom>
        </p:spPr>
        <p:txBody>
          <a:bodyPr lIns="0" tIns="86360" rIns="0" bIns="0" rtlCol="0" anchor="t"/>
          <a:lstStyle/>
          <a:p>
            <a:pPr algn="ctr"/>
            <a:r>
              <a:rPr lang="en-US" altLang="ko-KR" sz="8000" b="1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시뮬레이션</a:t>
            </a:r>
            <a:r>
              <a:rPr lang="en-US" altLang="ko-KR" sz="80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80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소개</a:t>
            </a:r>
            <a:endParaRPr lang="en-US" altLang="ko-KR" sz="8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ACBBBCF7-6D1D-A339-36C1-46D41A691413}"/>
              </a:ext>
            </a:extLst>
          </p:cNvPr>
          <p:cNvSpPr txBox="1"/>
          <p:nvPr/>
        </p:nvSpPr>
        <p:spPr>
          <a:xfrm>
            <a:off x="533400" y="571500"/>
            <a:ext cx="3225800" cy="4318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2400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Love_Ajin</a:t>
            </a:r>
            <a:endParaRPr lang="en-US" altLang="ko-KR" sz="2400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5589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C5F769-0A43-72AC-B88A-9D466EE1C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C0163988-DDC0-A410-13B3-04934F2A38A1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0" name="Text 3">
            <a:extLst>
              <a:ext uri="{FF2B5EF4-FFF2-40B4-BE49-F238E27FC236}">
                <a16:creationId xmlns:a16="http://schemas.microsoft.com/office/drawing/2014/main" id="{F721E95F-8392-DF16-DCF4-97D6774B9E96}"/>
              </a:ext>
            </a:extLst>
          </p:cNvPr>
          <p:cNvSpPr/>
          <p:nvPr/>
        </p:nvSpPr>
        <p:spPr>
          <a:xfrm>
            <a:off x="1005840" y="1258824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1,000명 시뮬레이션 결과 개요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043F703B-5839-98F2-C632-8C8118C499AC}"/>
              </a:ext>
            </a:extLst>
          </p:cNvPr>
          <p:cNvSpPr/>
          <p:nvPr/>
        </p:nvSpPr>
        <p:spPr>
          <a:xfrm>
            <a:off x="1005840" y="2484120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무작위 플레이 1,000회 결과 — 엔딩 분포 &amp; 핵심 스탯 분석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2" name="Shape 5">
            <a:extLst>
              <a:ext uri="{FF2B5EF4-FFF2-40B4-BE49-F238E27FC236}">
                <a16:creationId xmlns:a16="http://schemas.microsoft.com/office/drawing/2014/main" id="{579355C8-B2D5-91DC-470D-6102B95A7487}"/>
              </a:ext>
            </a:extLst>
          </p:cNvPr>
          <p:cNvSpPr/>
          <p:nvPr/>
        </p:nvSpPr>
        <p:spPr>
          <a:xfrm>
            <a:off x="1005840" y="3343656"/>
            <a:ext cx="5266944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3" name="Text 6">
            <a:extLst>
              <a:ext uri="{FF2B5EF4-FFF2-40B4-BE49-F238E27FC236}">
                <a16:creationId xmlns:a16="http://schemas.microsoft.com/office/drawing/2014/main" id="{672D0249-182A-E94E-0C27-FC95A52E88C0}"/>
              </a:ext>
            </a:extLst>
          </p:cNvPr>
          <p:cNvSpPr/>
          <p:nvPr/>
        </p:nvSpPr>
        <p:spPr>
          <a:xfrm>
            <a:off x="1188720" y="3672840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47.9%</a:t>
            </a:r>
            <a:endParaRPr lang="en-US" sz="6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4" name="Text 7">
            <a:extLst>
              <a:ext uri="{FF2B5EF4-FFF2-40B4-BE49-F238E27FC236}">
                <a16:creationId xmlns:a16="http://schemas.microsoft.com/office/drawing/2014/main" id="{FDCE4B9A-6B5E-2375-10CC-15C15ED487B7}"/>
              </a:ext>
            </a:extLst>
          </p:cNvPr>
          <p:cNvSpPr/>
          <p:nvPr/>
        </p:nvSpPr>
        <p:spPr>
          <a:xfrm>
            <a:off x="1188720" y="4770120"/>
            <a:ext cx="4901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해피 엔딩 달성률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F4E55786-E220-AA55-9869-2041AAE7986A}"/>
              </a:ext>
            </a:extLst>
          </p:cNvPr>
          <p:cNvSpPr/>
          <p:nvPr/>
        </p:nvSpPr>
        <p:spPr>
          <a:xfrm>
            <a:off x="1188720" y="5282184"/>
            <a:ext cx="4901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479명 / 1,000명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6" name="Shape 9">
            <a:extLst>
              <a:ext uri="{FF2B5EF4-FFF2-40B4-BE49-F238E27FC236}">
                <a16:creationId xmlns:a16="http://schemas.microsoft.com/office/drawing/2014/main" id="{0E6555F3-952B-6134-8542-FBC41F6E0889}"/>
              </a:ext>
            </a:extLst>
          </p:cNvPr>
          <p:cNvSpPr/>
          <p:nvPr/>
        </p:nvSpPr>
        <p:spPr>
          <a:xfrm>
            <a:off x="6638544" y="3343656"/>
            <a:ext cx="5266944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7" name="Text 10">
            <a:extLst>
              <a:ext uri="{FF2B5EF4-FFF2-40B4-BE49-F238E27FC236}">
                <a16:creationId xmlns:a16="http://schemas.microsoft.com/office/drawing/2014/main" id="{1B0F78C5-AB63-0F73-4451-6A7E4F1DF07C}"/>
              </a:ext>
            </a:extLst>
          </p:cNvPr>
          <p:cNvSpPr/>
          <p:nvPr/>
        </p:nvSpPr>
        <p:spPr>
          <a:xfrm>
            <a:off x="6821424" y="3672840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26.3%</a:t>
            </a:r>
            <a:endParaRPr lang="en-US" sz="6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8" name="Text 11">
            <a:extLst>
              <a:ext uri="{FF2B5EF4-FFF2-40B4-BE49-F238E27FC236}">
                <a16:creationId xmlns:a16="http://schemas.microsoft.com/office/drawing/2014/main" id="{B84980E6-EB92-D136-577E-4697B7291033}"/>
              </a:ext>
            </a:extLst>
          </p:cNvPr>
          <p:cNvSpPr/>
          <p:nvPr/>
        </p:nvSpPr>
        <p:spPr>
          <a:xfrm>
            <a:off x="6821424" y="4770120"/>
            <a:ext cx="4901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호감도 미달 배드엔딩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AA2A228E-5DCB-FB78-C817-A870C47A173F}"/>
              </a:ext>
            </a:extLst>
          </p:cNvPr>
          <p:cNvSpPr/>
          <p:nvPr/>
        </p:nvSpPr>
        <p:spPr>
          <a:xfrm>
            <a:off x="6821424" y="5282184"/>
            <a:ext cx="4901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263명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0" name="Shape 13">
            <a:extLst>
              <a:ext uri="{FF2B5EF4-FFF2-40B4-BE49-F238E27FC236}">
                <a16:creationId xmlns:a16="http://schemas.microsoft.com/office/drawing/2014/main" id="{BAB13327-DE3F-7204-B86C-E66307DB6D45}"/>
              </a:ext>
            </a:extLst>
          </p:cNvPr>
          <p:cNvSpPr/>
          <p:nvPr/>
        </p:nvSpPr>
        <p:spPr>
          <a:xfrm>
            <a:off x="12271248" y="3343656"/>
            <a:ext cx="5266944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1" name="Text 14">
            <a:extLst>
              <a:ext uri="{FF2B5EF4-FFF2-40B4-BE49-F238E27FC236}">
                <a16:creationId xmlns:a16="http://schemas.microsoft.com/office/drawing/2014/main" id="{234D201D-3B8E-EC53-5317-9D0881700653}"/>
              </a:ext>
            </a:extLst>
          </p:cNvPr>
          <p:cNvSpPr/>
          <p:nvPr/>
        </p:nvSpPr>
        <p:spPr>
          <a:xfrm>
            <a:off x="12454128" y="3672840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23.1%</a:t>
            </a:r>
            <a:endParaRPr lang="en-US" sz="6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Text 15">
            <a:extLst>
              <a:ext uri="{FF2B5EF4-FFF2-40B4-BE49-F238E27FC236}">
                <a16:creationId xmlns:a16="http://schemas.microsoft.com/office/drawing/2014/main" id="{3F183AE6-768C-A00A-2911-B5D189EFE248}"/>
              </a:ext>
            </a:extLst>
          </p:cNvPr>
          <p:cNvSpPr/>
          <p:nvPr/>
        </p:nvSpPr>
        <p:spPr>
          <a:xfrm>
            <a:off x="12454128" y="4770120"/>
            <a:ext cx="4901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과로/퇴사 배드엔딩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3" name="Text 16">
            <a:extLst>
              <a:ext uri="{FF2B5EF4-FFF2-40B4-BE49-F238E27FC236}">
                <a16:creationId xmlns:a16="http://schemas.microsoft.com/office/drawing/2014/main" id="{455EB69A-42F5-E18A-1BE4-6E7221DAE962}"/>
              </a:ext>
            </a:extLst>
          </p:cNvPr>
          <p:cNvSpPr/>
          <p:nvPr/>
        </p:nvSpPr>
        <p:spPr>
          <a:xfrm>
            <a:off x="12454128" y="5282184"/>
            <a:ext cx="4901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231명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4" name="Shape 17">
            <a:extLst>
              <a:ext uri="{FF2B5EF4-FFF2-40B4-BE49-F238E27FC236}">
                <a16:creationId xmlns:a16="http://schemas.microsoft.com/office/drawing/2014/main" id="{B2B8C20F-C97A-E13A-C136-7A04D1E21891}"/>
              </a:ext>
            </a:extLst>
          </p:cNvPr>
          <p:cNvSpPr/>
          <p:nvPr/>
        </p:nvSpPr>
        <p:spPr>
          <a:xfrm>
            <a:off x="17903952" y="3343656"/>
            <a:ext cx="5266944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5" name="Text 18">
            <a:extLst>
              <a:ext uri="{FF2B5EF4-FFF2-40B4-BE49-F238E27FC236}">
                <a16:creationId xmlns:a16="http://schemas.microsoft.com/office/drawing/2014/main" id="{7C537858-2D18-A51A-B189-A68E346FC2FD}"/>
              </a:ext>
            </a:extLst>
          </p:cNvPr>
          <p:cNvSpPr/>
          <p:nvPr/>
        </p:nvSpPr>
        <p:spPr>
          <a:xfrm>
            <a:off x="18086832" y="3672840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2.7%</a:t>
            </a:r>
            <a:endParaRPr lang="en-US" sz="6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DBCEBECA-B5DF-45A8-4EF3-1C72EA30599F}"/>
              </a:ext>
            </a:extLst>
          </p:cNvPr>
          <p:cNvSpPr/>
          <p:nvPr/>
        </p:nvSpPr>
        <p:spPr>
          <a:xfrm>
            <a:off x="18086832" y="4770120"/>
            <a:ext cx="4901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커리어우먼 엔딩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" name="Text 20">
            <a:extLst>
              <a:ext uri="{FF2B5EF4-FFF2-40B4-BE49-F238E27FC236}">
                <a16:creationId xmlns:a16="http://schemas.microsoft.com/office/drawing/2014/main" id="{C02A00CE-5E08-AD75-0A67-320DDEF2D452}"/>
              </a:ext>
            </a:extLst>
          </p:cNvPr>
          <p:cNvSpPr/>
          <p:nvPr/>
        </p:nvSpPr>
        <p:spPr>
          <a:xfrm>
            <a:off x="18086832" y="5282184"/>
            <a:ext cx="4901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27명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88" name="Chart 0">
            <a:extLst>
              <a:ext uri="{FF2B5EF4-FFF2-40B4-BE49-F238E27FC236}">
                <a16:creationId xmlns:a16="http://schemas.microsoft.com/office/drawing/2014/main" id="{82630404-4245-B333-6E06-F055A1476E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4250593"/>
              </p:ext>
            </p:extLst>
          </p:nvPr>
        </p:nvGraphicFramePr>
        <p:xfrm>
          <a:off x="1005840" y="6452616"/>
          <a:ext cx="8900160" cy="5815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9" name="Chart 1">
            <a:extLst>
              <a:ext uri="{FF2B5EF4-FFF2-40B4-BE49-F238E27FC236}">
                <a16:creationId xmlns:a16="http://schemas.microsoft.com/office/drawing/2014/main" id="{64ABCE83-7415-130E-B21F-92CDE62277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9312760"/>
              </p:ext>
            </p:extLst>
          </p:nvPr>
        </p:nvGraphicFramePr>
        <p:xfrm>
          <a:off x="10332720" y="6452616"/>
          <a:ext cx="12838176" cy="5815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14749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2E5A7-5D46-E737-02FE-EA652DCAE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24FFDFC1-7E4F-AB95-90D1-855C47846358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7690DD07-030A-F3C9-B299-5227EB448260}"/>
              </a:ext>
            </a:extLst>
          </p:cNvPr>
          <p:cNvSpPr/>
          <p:nvPr/>
        </p:nvSpPr>
        <p:spPr>
          <a:xfrm>
            <a:off x="1005840" y="1274064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캐릭터별 공략 선택률 &amp; 해피엔딩 달성률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6C149FE6-CC09-6F8A-9F03-D5127E0724F0}"/>
              </a:ext>
            </a:extLst>
          </p:cNvPr>
          <p:cNvSpPr/>
          <p:nvPr/>
        </p:nvSpPr>
        <p:spPr>
          <a:xfrm>
            <a:off x="1005840" y="2499360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4명 캐릭터의 선택 빈도와 해피엔딩 난이도를 분석합니다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F5639557-2AFD-917B-C591-D5F883AE89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5358569"/>
              </p:ext>
            </p:extLst>
          </p:nvPr>
        </p:nvGraphicFramePr>
        <p:xfrm>
          <a:off x="1005840" y="3413760"/>
          <a:ext cx="10698480" cy="6583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D1238CAD-EC1B-F80E-7702-7B8FB592D3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89134"/>
              </p:ext>
            </p:extLst>
          </p:nvPr>
        </p:nvGraphicFramePr>
        <p:xfrm>
          <a:off x="12252960" y="3413760"/>
          <a:ext cx="11064240" cy="6583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5">
            <a:extLst>
              <a:ext uri="{FF2B5EF4-FFF2-40B4-BE49-F238E27FC236}">
                <a16:creationId xmlns:a16="http://schemas.microsoft.com/office/drawing/2014/main" id="{E57B75FF-3579-B417-00C1-9F6A07B465D1}"/>
              </a:ext>
            </a:extLst>
          </p:cNvPr>
          <p:cNvSpPr/>
          <p:nvPr/>
        </p:nvSpPr>
        <p:spPr>
          <a:xfrm>
            <a:off x="1005840" y="10308336"/>
            <a:ext cx="22311360" cy="1426464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6862030-74B7-8D36-702F-09360E60BF53}"/>
              </a:ext>
            </a:extLst>
          </p:cNvPr>
          <p:cNvSpPr/>
          <p:nvPr/>
        </p:nvSpPr>
        <p:spPr>
          <a:xfrm>
            <a:off x="1371600" y="10823448"/>
            <a:ext cx="2157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💡  캐릭터 B(류인환)의 해피엔딩 달성률이 49.8%로 가장 높으나 전체적으로 균형 잡힌 난이도 설계가 확인됩니다.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5133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3D78-7CFE-0637-6689-A8802A69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CFFBA234-C21E-9F63-587A-7CF44740F98D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00BA7088-5F04-DB36-F135-A5796677A3B0}"/>
              </a:ext>
            </a:extLst>
          </p:cNvPr>
          <p:cNvSpPr/>
          <p:nvPr/>
        </p:nvSpPr>
        <p:spPr>
          <a:xfrm>
            <a:off x="640080" y="13664184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E58D4857-BA77-73E7-04E5-6BC33E5A7391}"/>
              </a:ext>
            </a:extLst>
          </p:cNvPr>
          <p:cNvSpPr/>
          <p:nvPr/>
        </p:nvSpPr>
        <p:spPr>
          <a:xfrm>
            <a:off x="1005840" y="1228344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 엔딩 분기 구조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2F952E92-2A27-88C5-677B-3349FEECBA95}"/>
              </a:ext>
            </a:extLst>
          </p:cNvPr>
          <p:cNvSpPr/>
          <p:nvPr/>
        </p:nvSpPr>
        <p:spPr>
          <a:xfrm>
            <a:off x="1005840" y="2453640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11가지 엔딩 — 최고 호감도 + 스트레스 + 지능이 복합적으로 결정합니다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0502690B-4FB0-9E3B-2342-05B627789238}"/>
              </a:ext>
            </a:extLst>
          </p:cNvPr>
          <p:cNvSpPr/>
          <p:nvPr/>
        </p:nvSpPr>
        <p:spPr>
          <a:xfrm>
            <a:off x="1005840" y="3368040"/>
            <a:ext cx="22311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2185DB55-815A-DB41-CA44-19F7CE58EFD7}"/>
              </a:ext>
            </a:extLst>
          </p:cNvPr>
          <p:cNvSpPr/>
          <p:nvPr/>
        </p:nvSpPr>
        <p:spPr>
          <a:xfrm>
            <a:off x="1005840" y="3368040"/>
            <a:ext cx="219456" cy="1609344"/>
          </a:xfrm>
          <a:prstGeom prst="rect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2F1491CD-DA00-5E32-30D7-7104B3A174E4}"/>
              </a:ext>
            </a:extLst>
          </p:cNvPr>
          <p:cNvSpPr/>
          <p:nvPr/>
        </p:nvSpPr>
        <p:spPr>
          <a:xfrm>
            <a:off x="1499616" y="36240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E01~04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4C8302BC-94C3-40A9-573C-10ADF0ECB05A}"/>
              </a:ext>
            </a:extLst>
          </p:cNvPr>
          <p:cNvSpPr/>
          <p:nvPr/>
        </p:nvSpPr>
        <p:spPr>
          <a:xfrm>
            <a:off x="3931920" y="36240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캐릭터별 해피엔딩 (×4)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23590900-02DB-F941-EFB5-4E6D08651C07}"/>
              </a:ext>
            </a:extLst>
          </p:cNvPr>
          <p:cNvSpPr/>
          <p:nvPr/>
        </p:nvSpPr>
        <p:spPr>
          <a:xfrm>
            <a:off x="13807440" y="362407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조건: 최고 호감도 ≥ 100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E00CA3F5-5BD7-758C-7927-8928C3DEC6AF}"/>
              </a:ext>
            </a:extLst>
          </p:cNvPr>
          <p:cNvSpPr/>
          <p:nvPr/>
        </p:nvSpPr>
        <p:spPr>
          <a:xfrm>
            <a:off x="1005840" y="5196840"/>
            <a:ext cx="22311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2658E904-D633-6D98-CFB0-A7AFB2B3E123}"/>
              </a:ext>
            </a:extLst>
          </p:cNvPr>
          <p:cNvSpPr/>
          <p:nvPr/>
        </p:nvSpPr>
        <p:spPr>
          <a:xfrm>
            <a:off x="1005840" y="5196840"/>
            <a:ext cx="219456" cy="1609344"/>
          </a:xfrm>
          <a:prstGeom prst="rect">
            <a:avLst/>
          </a:prstGeom>
          <a:solidFill>
            <a:srgbClr val="F7C4D8"/>
          </a:solidFill>
          <a:ln w="12700">
            <a:solidFill>
              <a:srgbClr val="F7C4D8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B5BA5B39-8298-BE72-D1DC-E3F8B1F89BAE}"/>
              </a:ext>
            </a:extLst>
          </p:cNvPr>
          <p:cNvSpPr/>
          <p:nvPr/>
        </p:nvSpPr>
        <p:spPr>
          <a:xfrm>
            <a:off x="1499616" y="54528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E05~08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D8D9AEFF-658A-02E1-52C2-17D3D6DE946F}"/>
              </a:ext>
            </a:extLst>
          </p:cNvPr>
          <p:cNvSpPr/>
          <p:nvPr/>
        </p:nvSpPr>
        <p:spPr>
          <a:xfrm>
            <a:off x="3931920" y="54528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캐릭터별 노멀엔딩 (×4)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ECE5AE23-5E76-AB9D-2869-A04A9792B8CB}"/>
              </a:ext>
            </a:extLst>
          </p:cNvPr>
          <p:cNvSpPr/>
          <p:nvPr/>
        </p:nvSpPr>
        <p:spPr>
          <a:xfrm>
            <a:off x="13807440" y="545287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조건: 최고 호감도 60 ~ 99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D2A747DE-FE88-BC7E-C112-B52E9DB63D44}"/>
              </a:ext>
            </a:extLst>
          </p:cNvPr>
          <p:cNvSpPr/>
          <p:nvPr/>
        </p:nvSpPr>
        <p:spPr>
          <a:xfrm>
            <a:off x="1005840" y="7025640"/>
            <a:ext cx="22311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C745FCC5-682C-CEDF-120E-FEE37CE18EFE}"/>
              </a:ext>
            </a:extLst>
          </p:cNvPr>
          <p:cNvSpPr/>
          <p:nvPr/>
        </p:nvSpPr>
        <p:spPr>
          <a:xfrm>
            <a:off x="1005840" y="7025640"/>
            <a:ext cx="219456" cy="1609344"/>
          </a:xfrm>
          <a:prstGeom prst="rect">
            <a:avLst/>
          </a:prstGeom>
          <a:solidFill>
            <a:srgbClr val="B5E0C5"/>
          </a:solidFill>
          <a:ln w="12700">
            <a:solidFill>
              <a:srgbClr val="B5E0C5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A45D0CC1-176A-18BA-B2BA-3439472FACD0}"/>
              </a:ext>
            </a:extLst>
          </p:cNvPr>
          <p:cNvSpPr/>
          <p:nvPr/>
        </p:nvSpPr>
        <p:spPr>
          <a:xfrm>
            <a:off x="1499616" y="72816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E09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7DFBBF16-4B94-50B4-833B-423A1BB836ED}"/>
              </a:ext>
            </a:extLst>
          </p:cNvPr>
          <p:cNvSpPr/>
          <p:nvPr/>
        </p:nvSpPr>
        <p:spPr>
          <a:xfrm>
            <a:off x="3931920" y="72816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워커홀릭 엔딩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B28D914F-783B-0044-DC63-A969EB69D561}"/>
              </a:ext>
            </a:extLst>
          </p:cNvPr>
          <p:cNvSpPr/>
          <p:nvPr/>
        </p:nvSpPr>
        <p:spPr>
          <a:xfrm>
            <a:off x="13807440" y="728167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조건: 지능 ≥ 120 (호감도 미달 시)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2704E71F-CA80-48FB-3C39-D15BBC1ED0EC}"/>
              </a:ext>
            </a:extLst>
          </p:cNvPr>
          <p:cNvSpPr/>
          <p:nvPr/>
        </p:nvSpPr>
        <p:spPr>
          <a:xfrm>
            <a:off x="1005840" y="8854440"/>
            <a:ext cx="22311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Shape 21">
            <a:extLst>
              <a:ext uri="{FF2B5EF4-FFF2-40B4-BE49-F238E27FC236}">
                <a16:creationId xmlns:a16="http://schemas.microsoft.com/office/drawing/2014/main" id="{3E1E3417-64D9-43B3-92E8-898758DB9232}"/>
              </a:ext>
            </a:extLst>
          </p:cNvPr>
          <p:cNvSpPr/>
          <p:nvPr/>
        </p:nvSpPr>
        <p:spPr>
          <a:xfrm>
            <a:off x="1005840" y="8854440"/>
            <a:ext cx="219456" cy="1609344"/>
          </a:xfrm>
          <a:prstGeom prst="rect">
            <a:avLst/>
          </a:prstGeom>
          <a:solidFill>
            <a:srgbClr val="AEC6E8"/>
          </a:solidFill>
          <a:ln w="12700">
            <a:solidFill>
              <a:srgbClr val="AEC6E8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Text 22">
            <a:extLst>
              <a:ext uri="{FF2B5EF4-FFF2-40B4-BE49-F238E27FC236}">
                <a16:creationId xmlns:a16="http://schemas.microsoft.com/office/drawing/2014/main" id="{0D43644B-14AF-415F-CBB1-C62E81DE90AA}"/>
              </a:ext>
            </a:extLst>
          </p:cNvPr>
          <p:cNvSpPr/>
          <p:nvPr/>
        </p:nvSpPr>
        <p:spPr>
          <a:xfrm>
            <a:off x="1499616" y="91104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E10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E81E729A-BF31-3AC3-8B14-EAE3B0C30581}"/>
              </a:ext>
            </a:extLst>
          </p:cNvPr>
          <p:cNvSpPr/>
          <p:nvPr/>
        </p:nvSpPr>
        <p:spPr>
          <a:xfrm>
            <a:off x="3931920" y="91104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번아웃 배드엔딩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Text 24">
            <a:extLst>
              <a:ext uri="{FF2B5EF4-FFF2-40B4-BE49-F238E27FC236}">
                <a16:creationId xmlns:a16="http://schemas.microsoft.com/office/drawing/2014/main" id="{767DDEE4-1504-A844-D277-EAD464B21A73}"/>
              </a:ext>
            </a:extLst>
          </p:cNvPr>
          <p:cNvSpPr/>
          <p:nvPr/>
        </p:nvSpPr>
        <p:spPr>
          <a:xfrm>
            <a:off x="13807440" y="911047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조건: 스트레스 ≥ 90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0EDA4F3D-D34E-8040-6D07-45CD73DE57AA}"/>
              </a:ext>
            </a:extLst>
          </p:cNvPr>
          <p:cNvSpPr/>
          <p:nvPr/>
        </p:nvSpPr>
        <p:spPr>
          <a:xfrm>
            <a:off x="1005840" y="10683240"/>
            <a:ext cx="22311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6" name="Shape 26">
            <a:extLst>
              <a:ext uri="{FF2B5EF4-FFF2-40B4-BE49-F238E27FC236}">
                <a16:creationId xmlns:a16="http://schemas.microsoft.com/office/drawing/2014/main" id="{6FAC58CB-B0DA-EDAA-78AF-E70C600C59AB}"/>
              </a:ext>
            </a:extLst>
          </p:cNvPr>
          <p:cNvSpPr/>
          <p:nvPr/>
        </p:nvSpPr>
        <p:spPr>
          <a:xfrm>
            <a:off x="1005840" y="10683240"/>
            <a:ext cx="219456" cy="1609344"/>
          </a:xfrm>
          <a:prstGeom prst="rect">
            <a:avLst/>
          </a:prstGeom>
          <a:solidFill>
            <a:srgbClr val="F9D29E"/>
          </a:solidFill>
          <a:ln w="12700">
            <a:solidFill>
              <a:srgbClr val="F9D29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Text 27">
            <a:extLst>
              <a:ext uri="{FF2B5EF4-FFF2-40B4-BE49-F238E27FC236}">
                <a16:creationId xmlns:a16="http://schemas.microsoft.com/office/drawing/2014/main" id="{08E4E6E1-7226-70D5-BBEB-B00E8A59AB05}"/>
              </a:ext>
            </a:extLst>
          </p:cNvPr>
          <p:cNvSpPr/>
          <p:nvPr/>
        </p:nvSpPr>
        <p:spPr>
          <a:xfrm>
            <a:off x="1499616" y="109392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E11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8" name="Text 28">
            <a:extLst>
              <a:ext uri="{FF2B5EF4-FFF2-40B4-BE49-F238E27FC236}">
                <a16:creationId xmlns:a16="http://schemas.microsoft.com/office/drawing/2014/main" id="{774D6560-05DD-1249-2D3A-62DF0847561D}"/>
              </a:ext>
            </a:extLst>
          </p:cNvPr>
          <p:cNvSpPr/>
          <p:nvPr/>
        </p:nvSpPr>
        <p:spPr>
          <a:xfrm>
            <a:off x="3931920" y="109392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평범한 직장인 배드엔딩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9" name="Text 29">
            <a:extLst>
              <a:ext uri="{FF2B5EF4-FFF2-40B4-BE49-F238E27FC236}">
                <a16:creationId xmlns:a16="http://schemas.microsoft.com/office/drawing/2014/main" id="{94030627-1189-11C7-111A-544D72A1CB8F}"/>
              </a:ext>
            </a:extLst>
          </p:cNvPr>
          <p:cNvSpPr/>
          <p:nvPr/>
        </p:nvSpPr>
        <p:spPr>
          <a:xfrm>
            <a:off x="13807440" y="1093927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조건: 모든 조건 미달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906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6CFC0-052E-3D88-851B-F4673366D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771FD41B-B967-26D6-A3F3-13D9BFC36224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3A9F3893-9B48-D668-04C1-42E9F7FCB45A}"/>
              </a:ext>
            </a:extLst>
          </p:cNvPr>
          <p:cNvSpPr/>
          <p:nvPr/>
        </p:nvSpPr>
        <p:spPr>
          <a:xfrm>
            <a:off x="640080" y="13664184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B8F82092-0257-0D4E-DE33-C71D5ECB4700}"/>
              </a:ext>
            </a:extLst>
          </p:cNvPr>
          <p:cNvSpPr/>
          <p:nvPr/>
        </p:nvSpPr>
        <p:spPr>
          <a:xfrm>
            <a:off x="1036320" y="1513744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성과 및 확장 비전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43494475-3785-83F0-0994-EDD5F5D0A4AC}"/>
              </a:ext>
            </a:extLst>
          </p:cNvPr>
          <p:cNvSpPr/>
          <p:nvPr/>
        </p:nvSpPr>
        <p:spPr>
          <a:xfrm>
            <a:off x="1036320" y="2739040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26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다중 변수 기반 엔딩 분기 구조를</a:t>
            </a:r>
            <a:r>
              <a:rPr lang="en-US" altLang="ko-KR" sz="26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6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통해 플레이 선택의 다양성을 늘렸습니다</a:t>
            </a:r>
            <a:r>
              <a:rPr lang="en-US" altLang="ko-KR" sz="26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42CD4A49-E9FF-1F3A-479B-179888030868}"/>
              </a:ext>
            </a:extLst>
          </p:cNvPr>
          <p:cNvSpPr/>
          <p:nvPr/>
        </p:nvSpPr>
        <p:spPr>
          <a:xfrm>
            <a:off x="1219200" y="4264850"/>
            <a:ext cx="10698480" cy="6766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29A053F2-3CBC-BEE0-6AFE-3363C2DAFF69}"/>
              </a:ext>
            </a:extLst>
          </p:cNvPr>
          <p:cNvSpPr/>
          <p:nvPr/>
        </p:nvSpPr>
        <p:spPr>
          <a:xfrm>
            <a:off x="1584960" y="4557458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🎯  프로젝트 성과 요약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 9">
            <a:extLst>
              <a:ext uri="{FF2B5EF4-FFF2-40B4-BE49-F238E27FC236}">
                <a16:creationId xmlns:a16="http://schemas.microsoft.com/office/drawing/2014/main" id="{45DC03B8-45A2-2E1D-5470-6B203F172796}"/>
              </a:ext>
            </a:extLst>
          </p:cNvPr>
          <p:cNvSpPr/>
          <p:nvPr/>
        </p:nvSpPr>
        <p:spPr>
          <a:xfrm>
            <a:off x="1584960" y="5288978"/>
            <a:ext cx="996696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Ren'Py + Flask + MariaDB 3-Layer 통합 구현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requests 비가용 환경 대비 urllib 폴백 처리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10일 × 2AP = 20회 선택으로 11가지 엔딩 분기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1,000명 시뮬레이션: 해피엔딩 달성률 47.9%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캐릭터별 균형 잡힌 공략 난이도 설계 확인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5FAE2E99-B7EC-862C-F9DC-9E1694F1535F}"/>
              </a:ext>
            </a:extLst>
          </p:cNvPr>
          <p:cNvSpPr/>
          <p:nvPr/>
        </p:nvSpPr>
        <p:spPr>
          <a:xfrm>
            <a:off x="12466320" y="4264850"/>
            <a:ext cx="10698480" cy="6766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53FB36A6-F155-0EE9-05A2-9A8616ABFB56}"/>
              </a:ext>
            </a:extLst>
          </p:cNvPr>
          <p:cNvSpPr/>
          <p:nvPr/>
        </p:nvSpPr>
        <p:spPr>
          <a:xfrm>
            <a:off x="12832080" y="4557458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🚀  향후 발전 방향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E340070B-873A-B240-6836-6EA0D13E3479}"/>
              </a:ext>
            </a:extLst>
          </p:cNvPr>
          <p:cNvSpPr/>
          <p:nvPr/>
        </p:nvSpPr>
        <p:spPr>
          <a:xfrm>
            <a:off x="12832080" y="5288978"/>
            <a:ext cx="996696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캐릭터 CG 이미지 추가 (AI 생성 일러스트)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BGM / 효과음 삽입으로 몰입감 향상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웹 기반 플레이어 통계 대시보드 구현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모바일(안드로이드) 빌드 배포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대화 생성 연동으로 무한 대화 확장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6048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A6900-A31C-F62A-FA7F-BC6EF9552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26927F43-9017-20F2-2F85-212D37CAF88E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7DFA87A5-62F5-FAE3-804F-FBABF78FD033}"/>
              </a:ext>
            </a:extLst>
          </p:cNvPr>
          <p:cNvSpPr/>
          <p:nvPr/>
        </p:nvSpPr>
        <p:spPr>
          <a:xfrm>
            <a:off x="640080" y="13664184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FE41C390-9A2A-9FE6-A01A-969E32F3040C}"/>
              </a:ext>
            </a:extLst>
          </p:cNvPr>
          <p:cNvSpPr/>
          <p:nvPr/>
        </p:nvSpPr>
        <p:spPr>
          <a:xfrm>
            <a:off x="659130" y="5462016"/>
            <a:ext cx="223113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Thank You</a:t>
            </a:r>
            <a:endParaRPr lang="en-US" sz="8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143B064D-74DD-2EB1-B6AA-C4DF61093973}"/>
              </a:ext>
            </a:extLst>
          </p:cNvPr>
          <p:cNvSpPr/>
          <p:nvPr/>
        </p:nvSpPr>
        <p:spPr>
          <a:xfrm>
            <a:off x="659130" y="6925881"/>
            <a:ext cx="2231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 아진산업  ·  8조 : 김도경, 김병욱, 이한이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04CAAA08-E4AF-1E10-CF00-B8CFB17A55EA}"/>
              </a:ext>
            </a:extLst>
          </p:cNvPr>
          <p:cNvSpPr/>
          <p:nvPr/>
        </p:nvSpPr>
        <p:spPr>
          <a:xfrm>
            <a:off x="8157210" y="7840281"/>
            <a:ext cx="7315200" cy="0"/>
          </a:xfrm>
          <a:prstGeom prst="line">
            <a:avLst/>
          </a:prstGeom>
          <a:noFill/>
          <a:ln w="19050">
            <a:solidFill>
              <a:srgbClr val="F7C4D8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693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969</Words>
  <Application>Microsoft Office PowerPoint</Application>
  <PresentationFormat>사용자 지정</PresentationFormat>
  <Paragraphs>220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Arial</vt:lpstr>
      <vt:lpstr>맑은 고딕</vt:lpstr>
      <vt:lpstr>Pretendard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KDT30</dc:creator>
  <cp:lastModifiedBy>KDT30</cp:lastModifiedBy>
  <cp:revision>8</cp:revision>
  <dcterms:created xsi:type="dcterms:W3CDTF">2006-08-16T00:00:00Z</dcterms:created>
  <dcterms:modified xsi:type="dcterms:W3CDTF">2026-05-27T10:05:32Z</dcterms:modified>
</cp:coreProperties>
</file>